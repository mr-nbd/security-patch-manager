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0" r:id="rId7"/>
    <p:sldId id="271" r:id="rId8"/>
    <p:sldId id="272" r:id="rId9"/>
    <p:sldId id="273" r:id="rId10"/>
    <p:sldId id="274" r:id="rId11"/>
    <p:sldId id="264" r:id="rId12"/>
    <p:sldId id="275" r:id="rId13"/>
    <p:sldId id="277" r:id="rId14"/>
    <p:sldId id="278" r:id="rId15"/>
    <p:sldId id="267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4A4A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13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3F9C6-F527-4349-2164-67FC9B79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CDD7-77F0-BE10-AA37-216AA0772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290E7-1A33-C5EC-2127-1DD12D9C7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1309C-2A92-CF8A-78B8-6975A5648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5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CB63-B516-6E12-E929-C10CDBF1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7CF89-B65F-11C7-1E3E-EE686A6FF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67AE5-6B75-0373-3CC1-4267E4941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15F19-AE16-4681-F0DA-348FD1FE9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57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D7C5-BFA6-3DB5-94E0-D2596E5C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D3289-80A2-1552-0E58-D8A3121AD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43995-7D00-C5E4-3BEF-F9F4F438E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AEF33-A3CB-6EB1-E763-45BF8E715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6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0B4D-9287-6A0F-5603-867FB35A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098D8-9D58-5EA7-BCA3-5553A9DF0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85785-2FD0-5448-6B38-127214066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9750-1F91-CF3C-4A29-92C9B2A50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09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BFDB-C079-C119-F9BF-843DE100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DA4D7-9038-E52E-98C3-692B57917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AE5DF-0180-FC98-7A8A-AE0CE455F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7614F-E2AF-E1B2-08EE-206BD5762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91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8A80-EF63-F2E8-D800-AB67105B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9CF6C-D8B1-66ED-C0A6-7EF02B92D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328D8-6071-6C38-D071-5C1AE4926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023CC-4378-E28F-EEE8-1038F4AC2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30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9312-7031-B2D2-FE53-0783F9A9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42FEE-B9B8-1211-6D22-6E80E67F7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22E2C-EEC1-71F9-0A6B-F9E282CEB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C27E6-F16D-F9D3-FC46-D64414C8E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01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1645920"/>
            <a:ext cx="3200400" cy="3200400"/>
          </a:xfrm>
          <a:prstGeom prst="ellipse">
            <a:avLst/>
          </a:prstGeom>
          <a:solidFill>
            <a:srgbClr val="00B4D8">
              <a:alpha val="28000"/>
            </a:srgbClr>
          </a:solidFill>
          <a:ln w="12700">
            <a:solidFill>
              <a:srgbClr val="00B4D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2560320"/>
            <a:ext cx="2286000" cy="2286000"/>
          </a:xfrm>
          <a:prstGeom prst="ellipse">
            <a:avLst/>
          </a:prstGeom>
          <a:solidFill>
            <a:srgbClr val="6B3FA0">
              <a:alpha val="30000"/>
            </a:srgbClr>
          </a:solidFill>
          <a:ln w="12700">
            <a:solidFill>
              <a:srgbClr val="6B3FA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502920"/>
            <a:ext cx="54864" cy="3474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50292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13258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for IT Operations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30352" y="2148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i="1" dirty="0" err="1">
                <a:solidFill>
                  <a:srgbClr val="1A9FFF"/>
                </a:solidFill>
              </a:rPr>
              <a:t>Presentazione</a:t>
            </a:r>
            <a:r>
              <a:rPr lang="en-US" sz="2800" i="1" dirty="0">
                <a:solidFill>
                  <a:srgbClr val="1A9FFF"/>
                </a:solidFill>
              </a:rPr>
              <a:t> </a:t>
            </a:r>
            <a:r>
              <a:rPr lang="en-US" sz="2800" i="1" dirty="0" err="1">
                <a:solidFill>
                  <a:srgbClr val="1A9FFF"/>
                </a:solidFill>
              </a:rPr>
              <a:t>Introduttiva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" y="28803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9BBDD"/>
                </a:solidFill>
              </a:rPr>
              <a:t>Come </a:t>
            </a:r>
            <a:r>
              <a:rPr lang="en-US" sz="1200" dirty="0" err="1">
                <a:solidFill>
                  <a:srgbClr val="99BBDD"/>
                </a:solidFill>
              </a:rPr>
              <a:t>trasformare</a:t>
            </a:r>
            <a:r>
              <a:rPr lang="en-US" sz="1200" dirty="0">
                <a:solidFill>
                  <a:srgbClr val="99BBDD"/>
                </a:solidFill>
              </a:rPr>
              <a:t> la </a:t>
            </a:r>
            <a:r>
              <a:rPr lang="en-US" sz="1200" dirty="0" err="1">
                <a:solidFill>
                  <a:srgbClr val="99BBDD"/>
                </a:solidFill>
              </a:rPr>
              <a:t>gestione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99BBDD"/>
                </a:solidFill>
              </a:rPr>
              <a:t>delle IT Operations in ambienti enterprise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9BBDD"/>
                </a:solidFill>
              </a:rPr>
              <a:t>cross-</a:t>
            </a:r>
            <a:r>
              <a:rPr lang="en-US" sz="1200" dirty="0" err="1">
                <a:solidFill>
                  <a:srgbClr val="99BBDD"/>
                </a:solidFill>
              </a:rPr>
              <a:t>teanat</a:t>
            </a:r>
            <a:r>
              <a:rPr lang="en-US" sz="1200" dirty="0">
                <a:solidFill>
                  <a:srgbClr val="99BBDD"/>
                </a:solidFill>
              </a:rPr>
              <a:t> e compliance-first.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" y="4535424"/>
            <a:ext cx="512064" cy="51206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4535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45537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Alberto Ameglio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47914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88AACC"/>
                </a:solidFill>
              </a:rPr>
              <a:t>Laureando</a:t>
            </a:r>
            <a:r>
              <a:rPr lang="en-US" sz="1000" dirty="0">
                <a:solidFill>
                  <a:srgbClr val="88AACC"/>
                </a:solidFill>
              </a:rPr>
              <a:t> Politecnico Di Torino</a:t>
            </a:r>
            <a:endParaRPr lang="en-US" sz="1000" dirty="0"/>
          </a:p>
        </p:txBody>
      </p:sp>
      <p:pic>
        <p:nvPicPr>
          <p:cNvPr id="21" name="Immagine 20" descr="Immagine che contiene testo, Elementi grafici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C206368C-4F62-B407-462E-E96CCD16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3" y="578539"/>
            <a:ext cx="2775771" cy="490097"/>
          </a:xfrm>
          <a:prstGeom prst="rect">
            <a:avLst/>
          </a:prstGeom>
        </p:spPr>
      </p:pic>
      <p:sp>
        <p:nvSpPr>
          <p:cNvPr id="8" name="Shape 14">
            <a:extLst>
              <a:ext uri="{FF2B5EF4-FFF2-40B4-BE49-F238E27FC236}">
                <a16:creationId xmlns:a16="http://schemas.microsoft.com/office/drawing/2014/main" id="{735BAB9B-0966-FF88-A42C-44AD373CE443}"/>
              </a:ext>
            </a:extLst>
          </p:cNvPr>
          <p:cNvSpPr/>
          <p:nvPr/>
        </p:nvSpPr>
        <p:spPr>
          <a:xfrm>
            <a:off x="2958650" y="4535424"/>
            <a:ext cx="512064" cy="51206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D155A63C-1CC1-0743-7F5E-4DC2BBE13A52}"/>
              </a:ext>
            </a:extLst>
          </p:cNvPr>
          <p:cNvSpPr/>
          <p:nvPr/>
        </p:nvSpPr>
        <p:spPr>
          <a:xfrm>
            <a:off x="2958650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</a:t>
            </a:r>
            <a:endParaRPr lang="en-US" sz="12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D9EAF004-72D3-CCEC-D883-5865B7354892}"/>
              </a:ext>
            </a:extLst>
          </p:cNvPr>
          <p:cNvSpPr/>
          <p:nvPr/>
        </p:nvSpPr>
        <p:spPr>
          <a:xfrm>
            <a:off x="3583236" y="45537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Lorenzo Astengo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15278D5-A213-7EED-ABC0-A1C3DA2C65B5}"/>
              </a:ext>
            </a:extLst>
          </p:cNvPr>
          <p:cNvSpPr/>
          <p:nvPr/>
        </p:nvSpPr>
        <p:spPr>
          <a:xfrm>
            <a:off x="3583236" y="4782312"/>
            <a:ext cx="33065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88AACC"/>
                </a:solidFill>
              </a:rPr>
              <a:t>Supervisore</a:t>
            </a:r>
            <a:r>
              <a:rPr lang="en-US" sz="1000" dirty="0">
                <a:solidFill>
                  <a:srgbClr val="88AACC"/>
                </a:solidFill>
              </a:rPr>
              <a:t> Progetto - Hybrid Cloud Infrastructure Engineer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magine 37">
            <a:extLst>
              <a:ext uri="{FF2B5EF4-FFF2-40B4-BE49-F238E27FC236}">
                <a16:creationId xmlns:a16="http://schemas.microsoft.com/office/drawing/2014/main" id="{84E911B7-9460-C5EA-E48A-D077F23F0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22" y="1481328"/>
            <a:ext cx="1969179" cy="2920237"/>
          </a:xfrm>
          <a:prstGeom prst="rect">
            <a:avLst/>
          </a:prstGeom>
        </p:spPr>
      </p:pic>
      <p:sp>
        <p:nvSpPr>
          <p:cNvPr id="37" name="Parallelogramma 36">
            <a:extLst>
              <a:ext uri="{FF2B5EF4-FFF2-40B4-BE49-F238E27FC236}">
                <a16:creationId xmlns:a16="http://schemas.microsoft.com/office/drawing/2014/main" id="{6882E412-E582-5778-3588-416DB2D951DF}"/>
              </a:ext>
            </a:extLst>
          </p:cNvPr>
          <p:cNvSpPr/>
          <p:nvPr/>
        </p:nvSpPr>
        <p:spPr>
          <a:xfrm flipH="1">
            <a:off x="5286538" y="1481328"/>
            <a:ext cx="1946366" cy="2912364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Parallelogramma 35">
            <a:extLst>
              <a:ext uri="{FF2B5EF4-FFF2-40B4-BE49-F238E27FC236}">
                <a16:creationId xmlns:a16="http://schemas.microsoft.com/office/drawing/2014/main" id="{F3CFF9A3-65D7-35CA-5F34-D1177D7CA1EF}"/>
              </a:ext>
            </a:extLst>
          </p:cNvPr>
          <p:cNvSpPr/>
          <p:nvPr/>
        </p:nvSpPr>
        <p:spPr>
          <a:xfrm flipH="1">
            <a:off x="3593592" y="1481328"/>
            <a:ext cx="1946366" cy="2912364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arallelogramma 34">
            <a:extLst>
              <a:ext uri="{FF2B5EF4-FFF2-40B4-BE49-F238E27FC236}">
                <a16:creationId xmlns:a16="http://schemas.microsoft.com/office/drawing/2014/main" id="{1DD0B26E-0CF6-1AAC-293F-F4F5D1875601}"/>
              </a:ext>
            </a:extLst>
          </p:cNvPr>
          <p:cNvSpPr/>
          <p:nvPr/>
        </p:nvSpPr>
        <p:spPr>
          <a:xfrm flipH="1">
            <a:off x="1911096" y="1481328"/>
            <a:ext cx="1946366" cy="2912364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Parallelogramma 33">
            <a:extLst>
              <a:ext uri="{FF2B5EF4-FFF2-40B4-BE49-F238E27FC236}">
                <a16:creationId xmlns:a16="http://schemas.microsoft.com/office/drawing/2014/main" id="{694A6908-40EE-934C-10FE-CE4228D87F53}"/>
              </a:ext>
            </a:extLst>
          </p:cNvPr>
          <p:cNvSpPr/>
          <p:nvPr/>
        </p:nvSpPr>
        <p:spPr>
          <a:xfrm flipH="1">
            <a:off x="216237" y="1481328"/>
            <a:ext cx="1946366" cy="2912364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rgbClr val="FFFFFF"/>
                </a:solidFill>
              </a:rPr>
              <a:t>I Valori dell’impiego AI per le Ops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3716" y="2090711"/>
            <a:ext cx="1272322" cy="435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Automazione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45444" y="2659598"/>
            <a:ext cx="1497003" cy="9993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 err="1">
                <a:solidFill>
                  <a:schemeClr val="bg1"/>
                </a:solidFill>
              </a:rPr>
              <a:t>Ridurre</a:t>
            </a:r>
            <a:r>
              <a:rPr lang="en-US" sz="1000" dirty="0">
                <a:solidFill>
                  <a:schemeClr val="bg1"/>
                </a:solidFill>
              </a:rPr>
              <a:t> il </a:t>
            </a:r>
            <a:r>
              <a:rPr lang="en-US" sz="1000" dirty="0" err="1">
                <a:solidFill>
                  <a:schemeClr val="bg1"/>
                </a:solidFill>
              </a:rPr>
              <a:t>numero</a:t>
            </a:r>
            <a:r>
              <a:rPr lang="en-US" sz="1000" dirty="0">
                <a:solidFill>
                  <a:schemeClr val="bg1"/>
                </a:solidFill>
              </a:rPr>
              <a:t> di task </a:t>
            </a:r>
            <a:r>
              <a:rPr lang="en-US" sz="1000" dirty="0" err="1">
                <a:solidFill>
                  <a:schemeClr val="bg1"/>
                </a:solidFill>
              </a:rPr>
              <a:t>ripetivi</a:t>
            </a:r>
            <a:r>
              <a:rPr lang="en-US" sz="1000" dirty="0">
                <a:solidFill>
                  <a:schemeClr val="bg1"/>
                </a:solidFill>
              </a:rPr>
              <a:t> e a basso </a:t>
            </a:r>
            <a:r>
              <a:rPr lang="en-US" sz="1000" dirty="0" err="1">
                <a:solidFill>
                  <a:schemeClr val="bg1"/>
                </a:solidFill>
              </a:rPr>
              <a:t>valore</a:t>
            </a:r>
            <a:r>
              <a:rPr lang="en-US" sz="1000" dirty="0">
                <a:solidFill>
                  <a:schemeClr val="bg1"/>
                </a:solidFill>
              </a:rPr>
              <a:t> per I Team</a:t>
            </a:r>
          </a:p>
        </p:txBody>
      </p:sp>
      <p:sp>
        <p:nvSpPr>
          <p:cNvPr id="14" name="Text 12"/>
          <p:cNvSpPr/>
          <p:nvPr/>
        </p:nvSpPr>
        <p:spPr>
          <a:xfrm>
            <a:off x="2185416" y="148132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62603" y="2126234"/>
            <a:ext cx="1159025" cy="38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Analisi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29830" y="2701399"/>
            <a:ext cx="1371600" cy="915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 err="1">
                <a:solidFill>
                  <a:schemeClr val="bg1"/>
                </a:solidFill>
              </a:rPr>
              <a:t>Elaborare</a:t>
            </a:r>
            <a:r>
              <a:rPr lang="en-US" sz="1000" dirty="0">
                <a:solidFill>
                  <a:schemeClr val="bg1"/>
                </a:solidFill>
              </a:rPr>
              <a:t> grandi volumi di </a:t>
            </a:r>
            <a:r>
              <a:rPr lang="en-US" sz="1000" dirty="0" err="1">
                <a:solidFill>
                  <a:schemeClr val="bg1"/>
                </a:solidFill>
              </a:rPr>
              <a:t>dati</a:t>
            </a:r>
            <a:r>
              <a:rPr lang="en-US" sz="1000" dirty="0">
                <a:solidFill>
                  <a:schemeClr val="bg1"/>
                </a:solidFill>
              </a:rPr>
              <a:t>, log, </a:t>
            </a:r>
            <a:r>
              <a:rPr lang="en-US" sz="1000" dirty="0" err="1">
                <a:solidFill>
                  <a:schemeClr val="bg1"/>
                </a:solidFill>
              </a:rPr>
              <a:t>metriche</a:t>
            </a:r>
            <a:r>
              <a:rPr lang="en-US" sz="1000" dirty="0">
                <a:solidFill>
                  <a:schemeClr val="bg1"/>
                </a:solidFill>
              </a:rPr>
              <a:t> in tempi </a:t>
            </a:r>
            <a:r>
              <a:rPr lang="en-US" sz="1000" dirty="0" err="1">
                <a:solidFill>
                  <a:schemeClr val="bg1"/>
                </a:solidFill>
              </a:rPr>
              <a:t>ridotti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67912" y="148132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904838" y="2151235"/>
            <a:ext cx="115118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Assistenza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86200" y="2505129"/>
            <a:ext cx="1444752" cy="1308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it-IT" sz="1000" dirty="0">
                <a:solidFill>
                  <a:schemeClr val="bg1"/>
                </a:solidFill>
              </a:rPr>
              <a:t>Integrazione interdisciplinare tra i team Ops garantendo autonomia decisionale, riducendo le dipendenze esterne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06950" y="20867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Potenzia gli operatori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92209" y="2773244"/>
            <a:ext cx="1371600" cy="772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L’AI </a:t>
            </a:r>
            <a:r>
              <a:rPr lang="en-US" sz="1000" dirty="0" err="1">
                <a:solidFill>
                  <a:schemeClr val="bg1"/>
                </a:solidFill>
              </a:rPr>
              <a:t>rafforza</a:t>
            </a:r>
            <a:r>
              <a:rPr lang="en-US" sz="1000" dirty="0">
                <a:solidFill>
                  <a:schemeClr val="bg1"/>
                </a:solidFill>
              </a:rPr>
              <a:t> il team, fornendo contesto e </a:t>
            </a:r>
            <a:r>
              <a:rPr lang="en-US" sz="1000" dirty="0" err="1">
                <a:solidFill>
                  <a:schemeClr val="bg1"/>
                </a:solidFill>
              </a:rPr>
              <a:t>raccomandazioni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07734" y="20867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Riduce il carico operativo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82542" y="2692256"/>
            <a:ext cx="1371600" cy="966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Meno alert falsi, meno escalation manuali, più focus sulle decisioni ad alto impatto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09A97F39-5769-E1B9-1D26-1AA87D594FE8}"/>
              </a:ext>
            </a:extLst>
          </p:cNvPr>
          <p:cNvSpPr/>
          <p:nvPr/>
        </p:nvSpPr>
        <p:spPr>
          <a:xfrm>
            <a:off x="463716" y="302079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1 · Il Valore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40" name="Immagine 39" descr="Immagine che contiene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90FB51B6-4F0F-EB88-959B-FA11E2E84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81" y="1566237"/>
            <a:ext cx="584998" cy="584998"/>
          </a:xfrm>
          <a:prstGeom prst="rect">
            <a:avLst/>
          </a:prstGeom>
        </p:spPr>
      </p:pic>
      <p:pic>
        <p:nvPicPr>
          <p:cNvPr id="42" name="Immagine 41" descr="Immagine che contiene schermata, Policromi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2091F320-AE41-DD20-3BBA-64541B134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9286" y="1567325"/>
            <a:ext cx="583910" cy="583910"/>
          </a:xfrm>
          <a:prstGeom prst="rect">
            <a:avLst/>
          </a:prstGeom>
        </p:spPr>
      </p:pic>
      <p:pic>
        <p:nvPicPr>
          <p:cNvPr id="44" name="Immagine 4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C29EFD98-5D43-274C-0BD2-82DC378311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3988" y="1572441"/>
            <a:ext cx="583910" cy="583910"/>
          </a:xfrm>
          <a:prstGeom prst="rect">
            <a:avLst/>
          </a:prstGeom>
        </p:spPr>
      </p:pic>
      <p:pic>
        <p:nvPicPr>
          <p:cNvPr id="46" name="Immagine 45" descr="Immagine che contiene Elementi grafici, Blu elettrico, Policromi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DEABBC5B-F2AC-89BB-BF87-8A889B22ED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7178" y="1566237"/>
            <a:ext cx="615512" cy="615512"/>
          </a:xfrm>
          <a:prstGeom prst="rect">
            <a:avLst/>
          </a:prstGeom>
        </p:spPr>
      </p:pic>
      <p:pic>
        <p:nvPicPr>
          <p:cNvPr id="48" name="Immagine 47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516A5DF6-93C0-CDDA-B49E-C420101A17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803" y="1583872"/>
            <a:ext cx="605899" cy="605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68125FED-4AEF-9C71-427D-490084559550}"/>
              </a:ext>
            </a:extLst>
          </p:cNvPr>
          <p:cNvSpPr/>
          <p:nvPr/>
        </p:nvSpPr>
        <p:spPr>
          <a:xfrm>
            <a:off x="5821680" y="1422110"/>
            <a:ext cx="3093720" cy="3304032"/>
          </a:xfrm>
          <a:prstGeom prst="roundRect">
            <a:avLst>
              <a:gd name="adj" fmla="val 8046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20619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Sorgenti dati tipiche delle IT Operations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21680" y="1536410"/>
            <a:ext cx="3093720" cy="2797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00" b="1" dirty="0" err="1">
                <a:solidFill>
                  <a:srgbClr val="FF0000"/>
                </a:solidFill>
              </a:rPr>
              <a:t>Caos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Operativo</a:t>
            </a:r>
            <a:endParaRPr lang="en-US" sz="1600" b="1" dirty="0">
              <a:solidFill>
                <a:srgbClr val="FF0000"/>
              </a:solidFill>
            </a:endParaRPr>
          </a:p>
          <a:p>
            <a:pPr>
              <a:lnSpc>
                <a:spcPct val="135000"/>
              </a:lnSpc>
            </a:pPr>
            <a:r>
              <a:rPr lang="it-IT" sz="1200" b="1" dirty="0">
                <a:solidFill>
                  <a:schemeClr val="bg1"/>
                </a:solidFill>
              </a:rPr>
              <a:t>Ogni sistema genera log, metriche e alert in sezioni separate. E questo richiede</a:t>
            </a:r>
            <a:endParaRPr lang="en-US" sz="12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Conoscenza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specifica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Accesso </a:t>
            </a:r>
            <a:r>
              <a:rPr lang="en-US" sz="1200" dirty="0" err="1">
                <a:solidFill>
                  <a:schemeClr val="bg1"/>
                </a:solidFill>
              </a:rPr>
              <a:t>dedicato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Analisi</a:t>
            </a:r>
            <a:r>
              <a:rPr lang="en-US" sz="1200" dirty="0">
                <a:solidFill>
                  <a:schemeClr val="bg1"/>
                </a:solidFill>
              </a:rPr>
              <a:t> separate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chemeClr val="bg1"/>
                </a:solidFill>
              </a:rPr>
              <a:t>Troppe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fonti</a:t>
            </a:r>
            <a:r>
              <a:rPr lang="en-US" sz="1200" dirty="0">
                <a:solidFill>
                  <a:schemeClr val="bg1"/>
                </a:solidFill>
              </a:rPr>
              <a:t> e </a:t>
            </a:r>
            <a:r>
              <a:rPr lang="en-US" sz="1200" dirty="0" err="1">
                <a:solidFill>
                  <a:schemeClr val="bg1"/>
                </a:solidFill>
              </a:rPr>
              <a:t>nessuna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visione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unificata</a:t>
            </a:r>
            <a:r>
              <a:rPr lang="en-US" sz="1200" dirty="0">
                <a:solidFill>
                  <a:schemeClr val="bg1"/>
                </a:solidFill>
              </a:rPr>
              <a:t>.  Il team è </a:t>
            </a:r>
            <a:r>
              <a:rPr lang="en-US" sz="1200" dirty="0" err="1">
                <a:solidFill>
                  <a:schemeClr val="bg1"/>
                </a:solidFill>
              </a:rPr>
              <a:t>sommerso</a:t>
            </a:r>
            <a:r>
              <a:rPr lang="en-US" sz="1200" dirty="0">
                <a:solidFill>
                  <a:schemeClr val="bg1"/>
                </a:solidFill>
              </a:rPr>
              <a:t> da </a:t>
            </a:r>
            <a:r>
              <a:rPr lang="en-US" sz="1200" dirty="0" err="1">
                <a:solidFill>
                  <a:schemeClr val="bg1"/>
                </a:solidFill>
              </a:rPr>
              <a:t>rumore</a:t>
            </a:r>
            <a:r>
              <a:rPr lang="en-US" sz="1200" dirty="0">
                <a:solidFill>
                  <a:schemeClr val="bg1"/>
                </a:solidFill>
              </a:rPr>
              <a:t>, non da </a:t>
            </a:r>
            <a:r>
              <a:rPr lang="en-US" sz="1200" dirty="0" err="1">
                <a:solidFill>
                  <a:schemeClr val="bg1"/>
                </a:solidFill>
              </a:rPr>
              <a:t>segnale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C4CA13A6-A6D9-E110-767F-F6C378081D9B}"/>
              </a:ext>
            </a:extLst>
          </p:cNvPr>
          <p:cNvSpPr/>
          <p:nvPr/>
        </p:nvSpPr>
        <p:spPr>
          <a:xfrm>
            <a:off x="457200" y="242316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1 · Il </a:t>
            </a:r>
            <a:r>
              <a:rPr lang="en-US" sz="1100" b="1" cap="all" dirty="0" err="1">
                <a:solidFill>
                  <a:srgbClr val="66CCFF"/>
                </a:solidFill>
              </a:rPr>
              <a:t>problema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62" name="Immagine 61" descr="Immagine che contiene testo, schermata, design, diagramma&#10;&#10;Il contenuto generato dall'IA potrebbe non essere corretto.">
            <a:extLst>
              <a:ext uri="{FF2B5EF4-FFF2-40B4-BE49-F238E27FC236}">
                <a16:creationId xmlns:a16="http://schemas.microsoft.com/office/drawing/2014/main" id="{FF3478BC-85B0-5D2A-04FD-D8C0D6805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9126"/>
            <a:ext cx="5204460" cy="3852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Inserire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l’AI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all’interno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dei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processi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89121" y="27508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4754880" y="1188720"/>
            <a:ext cx="4160520" cy="3886200"/>
          </a:xfrm>
          <a:prstGeom prst="rect">
            <a:avLst/>
          </a:prstGeom>
          <a:solidFill>
            <a:srgbClr val="EBF5FF"/>
          </a:solidFill>
          <a:ln w="12700">
            <a:solidFill>
              <a:srgbClr val="D6E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54880" y="1188720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892040" y="1252728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285232" y="12618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744"/>
                </a:solidFill>
              </a:rPr>
              <a:t>Assistente</a:t>
            </a:r>
            <a:r>
              <a:rPr lang="en-US" sz="1100" b="1" dirty="0">
                <a:solidFill>
                  <a:srgbClr val="1A2744"/>
                </a:solidFill>
              </a:rPr>
              <a:t> AI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943600" y="1828800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8932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900" dirty="0">
                <a:solidFill>
                  <a:srgbClr val="1A2744"/>
                </a:solidFill>
              </a:rPr>
              <a:t>Quanti SQL Server ho in Azure?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64608" y="2340864"/>
            <a:ext cx="3749040" cy="530352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919472" y="2340864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it-IT" sz="900" dirty="0">
                <a:solidFill>
                  <a:srgbClr val="1A2744"/>
                </a:solidFill>
              </a:rPr>
              <a:t>Ci sono 50 server SQL nella tua </a:t>
            </a:r>
            <a:r>
              <a:rPr lang="it-IT" sz="900" dirty="0" err="1">
                <a:solidFill>
                  <a:srgbClr val="1A2744"/>
                </a:solidFill>
              </a:rPr>
              <a:t>subscriptions</a:t>
            </a:r>
            <a:r>
              <a:rPr lang="it-IT" sz="900" dirty="0">
                <a:solidFill>
                  <a:srgbClr val="1A2744"/>
                </a:solidFill>
              </a:rPr>
              <a:t> Azure.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0" y="2980944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989320" y="298094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900" dirty="0">
                <a:solidFill>
                  <a:srgbClr val="1A2744"/>
                </a:solidFill>
              </a:rPr>
              <a:t>Eseguire un controllo dello stato di salute su Active Directory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864608" y="3493008"/>
            <a:ext cx="3749040" cy="530352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919472" y="3493008"/>
            <a:ext cx="3639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it-IT" sz="900" dirty="0">
                <a:solidFill>
                  <a:srgbClr val="1A2744"/>
                </a:solidFill>
              </a:rPr>
              <a:t>Il livello di servizio per Active Directory è Positivo✅.</a:t>
            </a:r>
          </a:p>
          <a:p>
            <a:pPr>
              <a:lnSpc>
                <a:spcPct val="120000"/>
              </a:lnSpc>
            </a:pPr>
            <a:r>
              <a:rPr lang="it-IT" sz="900" dirty="0">
                <a:solidFill>
                  <a:srgbClr val="1A2744"/>
                </a:solidFill>
              </a:rPr>
              <a:t>KPI nella norma nelle ultime 4 settimane.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943600" y="4151376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989320" y="415137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900" dirty="0">
                <a:solidFill>
                  <a:srgbClr val="1A2744"/>
                </a:solidFill>
              </a:rPr>
              <a:t>Quali server web servono ‘Carabinieri'?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864608" y="4663440"/>
            <a:ext cx="3749040" cy="292608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919472" y="466344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900" dirty="0">
                <a:solidFill>
                  <a:srgbClr val="1A2744"/>
                </a:solidFill>
              </a:rPr>
              <a:t>Sono 4 i server web che forniscono il servizio per ‘Carabinieri'.</a:t>
            </a:r>
            <a:endParaRPr lang="en-US" sz="900" dirty="0"/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6056B3F3-DEDD-737F-2DDE-B3DB80333624}"/>
              </a:ext>
            </a:extLst>
          </p:cNvPr>
          <p:cNvSpPr/>
          <p:nvPr/>
        </p:nvSpPr>
        <p:spPr>
          <a:xfrm>
            <a:off x="457200" y="228600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1 · </a:t>
            </a:r>
            <a:r>
              <a:rPr lang="en-US" sz="1100" b="1" cap="all" dirty="0" err="1">
                <a:solidFill>
                  <a:srgbClr val="66CCFF"/>
                </a:solidFill>
              </a:rPr>
              <a:t>Affrontare</a:t>
            </a:r>
            <a:r>
              <a:rPr lang="en-US" sz="1100" b="1" cap="all" dirty="0">
                <a:solidFill>
                  <a:srgbClr val="66CCFF"/>
                </a:solidFill>
              </a:rPr>
              <a:t> il </a:t>
            </a:r>
            <a:r>
              <a:rPr lang="en-US" sz="1100" b="1" cap="all" dirty="0" err="1">
                <a:solidFill>
                  <a:srgbClr val="66CCFF"/>
                </a:solidFill>
              </a:rPr>
              <a:t>problema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81" name="Immagine 80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C8C07213-7F1B-6214-1E18-A2777BF5B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61872"/>
            <a:ext cx="1968601" cy="3670489"/>
          </a:xfrm>
          <a:prstGeom prst="rect">
            <a:avLst/>
          </a:prstGeom>
        </p:spPr>
      </p:pic>
      <p:sp>
        <p:nvSpPr>
          <p:cNvPr id="82" name="Text 59">
            <a:extLst>
              <a:ext uri="{FF2B5EF4-FFF2-40B4-BE49-F238E27FC236}">
                <a16:creationId xmlns:a16="http://schemas.microsoft.com/office/drawing/2014/main" id="{565A6D48-2C8A-FA0C-1FF3-6916A53DEC59}"/>
              </a:ext>
            </a:extLst>
          </p:cNvPr>
          <p:cNvSpPr/>
          <p:nvPr/>
        </p:nvSpPr>
        <p:spPr>
          <a:xfrm>
            <a:off x="2502001" y="27523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  <p:pic>
        <p:nvPicPr>
          <p:cNvPr id="87" name="Immagine 86" descr="Immagine che contiene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6913AD7B-287F-8BC3-734D-B0C4D68A5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249" y="2325624"/>
            <a:ext cx="1581231" cy="1270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Arricchimento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dei</a:t>
            </a:r>
            <a:r>
              <a:rPr lang="en-US" sz="2200" b="1" dirty="0">
                <a:solidFill>
                  <a:srgbClr val="FFFFFF"/>
                </a:solidFill>
              </a:rPr>
              <a:t> Ticket </a:t>
            </a:r>
            <a:r>
              <a:rPr lang="en-US" sz="2200" b="1" dirty="0" err="1">
                <a:solidFill>
                  <a:srgbClr val="FFFFFF"/>
                </a:solidFill>
              </a:rPr>
              <a:t>tramite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l'AI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108960" y="1207008"/>
            <a:ext cx="5852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27248" y="1225296"/>
            <a:ext cx="1417320" cy="43891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44568" y="122529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82112" y="126187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EA0"/>
                </a:solidFill>
              </a:rPr>
              <a:t>Request 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17720" y="126187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1234567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27248" y="1682496"/>
            <a:ext cx="1417320" cy="43891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44568" y="168249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82112" y="171907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EA0"/>
                </a:solidFill>
              </a:rPr>
              <a:t>Priority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171907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</a:rPr>
              <a:t>🔴  High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27248" y="2139696"/>
            <a:ext cx="1417320" cy="43891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44568" y="213969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82112" y="217627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EA0"/>
                </a:solidFill>
              </a:rPr>
              <a:t>Requestor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7720" y="217627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Lorenzo 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27248" y="2596896"/>
            <a:ext cx="1417320" cy="43891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44568" y="259689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82112" y="263347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EA0"/>
                </a:solidFill>
              </a:rPr>
              <a:t>Category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17720" y="263347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Service not available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27248" y="3054096"/>
            <a:ext cx="1417320" cy="43891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44568" y="305409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82112" y="309067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EA0"/>
                </a:solidFill>
              </a:rPr>
              <a:t>Title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17720" y="309067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err="1">
                <a:solidFill>
                  <a:srgbClr val="1A2744"/>
                </a:solidFill>
              </a:rPr>
              <a:t>Problemi</a:t>
            </a:r>
            <a:r>
              <a:rPr lang="en-US" sz="950" dirty="0">
                <a:solidFill>
                  <a:srgbClr val="1A2744"/>
                </a:solidFill>
              </a:rPr>
              <a:t> con </a:t>
            </a:r>
            <a:r>
              <a:rPr lang="en-US" sz="950" dirty="0" err="1">
                <a:solidFill>
                  <a:srgbClr val="1A2744"/>
                </a:solidFill>
              </a:rPr>
              <a:t>l'app</a:t>
            </a:r>
            <a:r>
              <a:rPr lang="en-US" sz="950" dirty="0">
                <a:solidFill>
                  <a:srgbClr val="1A2744"/>
                </a:solidFill>
              </a:rPr>
              <a:t> Carabinieri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27248" y="3511296"/>
            <a:ext cx="1417320" cy="438912"/>
          </a:xfrm>
          <a:prstGeom prst="rect">
            <a:avLst/>
          </a:prstGeom>
          <a:solidFill>
            <a:srgbClr val="F4F8FB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44568" y="351129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82112" y="354787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EA0"/>
                </a:solidFill>
              </a:rPr>
              <a:t>Description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17720" y="3547872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850" i="1" dirty="0">
                <a:solidFill>
                  <a:srgbClr val="6B7EA0"/>
                </a:solidFill>
              </a:rPr>
              <a:t>Gli utenti riscontrano l'errore: "Impossibile autenticarsi. Riprovare più tardi."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27248" y="3968496"/>
            <a:ext cx="1417320" cy="713232"/>
          </a:xfrm>
          <a:prstGeom prst="rect">
            <a:avLst/>
          </a:prstGeom>
          <a:solidFill>
            <a:srgbClr val="D4F0E0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44568" y="3968496"/>
            <a:ext cx="4389120" cy="713232"/>
          </a:xfrm>
          <a:prstGeom prst="rect">
            <a:avLst/>
          </a:prstGeom>
          <a:solidFill>
            <a:srgbClr val="F0FFF5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82112" y="4014216"/>
            <a:ext cx="1298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5B"/>
                </a:solidFill>
              </a:rPr>
              <a:t>Automated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E9E5B"/>
                </a:solidFill>
              </a:rPr>
              <a:t>Checks (AI)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17720" y="4023360"/>
            <a:ext cx="4261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E9E5B"/>
                </a:solidFill>
              </a:rPr>
              <a:t>✅  VMs tutte ON  ✅  Patch OK  ✅  Frontend Running  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392B"/>
                </a:solidFill>
              </a:rPr>
              <a:t>❌  </a:t>
            </a:r>
            <a:r>
              <a:rPr lang="en-US" sz="950" b="1" dirty="0" err="1">
                <a:solidFill>
                  <a:srgbClr val="C0392B"/>
                </a:solidFill>
              </a:rPr>
              <a:t>connessioni</a:t>
            </a:r>
            <a:r>
              <a:rPr lang="en-US" sz="950" b="1" dirty="0">
                <a:solidFill>
                  <a:srgbClr val="C0392B"/>
                </a:solidFill>
              </a:rPr>
              <a:t> LDAP </a:t>
            </a:r>
            <a:r>
              <a:rPr lang="en-US" sz="950" b="1" dirty="0" err="1">
                <a:solidFill>
                  <a:srgbClr val="C0392B"/>
                </a:solidFill>
              </a:rPr>
              <a:t>sono</a:t>
            </a:r>
            <a:r>
              <a:rPr lang="en-US" sz="950" b="1" dirty="0">
                <a:solidFill>
                  <a:srgbClr val="C0392B"/>
                </a:solidFill>
              </a:rPr>
              <a:t> DOWN</a:t>
            </a:r>
            <a:endParaRPr lang="en-US" sz="950" dirty="0"/>
          </a:p>
        </p:txBody>
      </p:sp>
      <p:pic>
        <p:nvPicPr>
          <p:cNvPr id="49" name="Immagine 48" descr="Immagine che contiene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439D7EAC-A550-E3EA-C49E-F591635FA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00" y="2419063"/>
            <a:ext cx="1581231" cy="1270065"/>
          </a:xfrm>
          <a:prstGeom prst="rect">
            <a:avLst/>
          </a:prstGeom>
        </p:spPr>
      </p:pic>
      <p:sp>
        <p:nvSpPr>
          <p:cNvPr id="51" name="Text 63">
            <a:extLst>
              <a:ext uri="{FF2B5EF4-FFF2-40B4-BE49-F238E27FC236}">
                <a16:creationId xmlns:a16="http://schemas.microsoft.com/office/drawing/2014/main" id="{5963D1BD-0A6D-B7D1-88B5-DB19270697EB}"/>
              </a:ext>
            </a:extLst>
          </p:cNvPr>
          <p:cNvSpPr/>
          <p:nvPr/>
        </p:nvSpPr>
        <p:spPr>
          <a:xfrm>
            <a:off x="1253550" y="2068415"/>
            <a:ext cx="949330" cy="207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744"/>
                </a:solidFill>
              </a:rPr>
              <a:t>Assistente</a:t>
            </a:r>
            <a:r>
              <a:rPr lang="en-US" sz="1100" b="1" dirty="0">
                <a:solidFill>
                  <a:srgbClr val="1A2744"/>
                </a:solidFill>
              </a:rPr>
              <a:t> AI</a:t>
            </a:r>
            <a:endParaRPr lang="en-US" sz="1100" dirty="0"/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DD8A6465-8994-54E3-0B5A-59F00A4B24A1}"/>
              </a:ext>
            </a:extLst>
          </p:cNvPr>
          <p:cNvSpPr/>
          <p:nvPr/>
        </p:nvSpPr>
        <p:spPr>
          <a:xfrm>
            <a:off x="457200" y="228600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1 · </a:t>
            </a:r>
            <a:r>
              <a:rPr lang="en-US" sz="1100" b="1" cap="all" dirty="0" err="1">
                <a:solidFill>
                  <a:srgbClr val="66CCFF"/>
                </a:solidFill>
              </a:rPr>
              <a:t>Affrontare</a:t>
            </a:r>
            <a:r>
              <a:rPr lang="en-US" sz="1100" b="1" cap="all" dirty="0">
                <a:solidFill>
                  <a:srgbClr val="66CCFF"/>
                </a:solidFill>
              </a:rPr>
              <a:t> il </a:t>
            </a:r>
            <a:r>
              <a:rPr lang="en-US" sz="1100" b="1" cap="all" dirty="0" err="1">
                <a:solidFill>
                  <a:srgbClr val="66CCFF"/>
                </a:solidFill>
              </a:rPr>
              <a:t>problema</a:t>
            </a:r>
            <a:endParaRPr lang="en-US" sz="1100" dirty="0">
              <a:solidFill>
                <a:srgbClr val="66CCFF"/>
              </a:solidFill>
            </a:endParaRPr>
          </a:p>
        </p:txBody>
      </p:sp>
      <p:sp>
        <p:nvSpPr>
          <p:cNvPr id="53" name="Shape 62">
            <a:extLst>
              <a:ext uri="{FF2B5EF4-FFF2-40B4-BE49-F238E27FC236}">
                <a16:creationId xmlns:a16="http://schemas.microsoft.com/office/drawing/2014/main" id="{A07842FF-4767-EF2F-DBE4-3664C7FBAFCE}"/>
              </a:ext>
            </a:extLst>
          </p:cNvPr>
          <p:cNvSpPr/>
          <p:nvPr/>
        </p:nvSpPr>
        <p:spPr>
          <a:xfrm>
            <a:off x="924366" y="2011680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Come </a:t>
            </a:r>
            <a:r>
              <a:rPr lang="en-US" sz="2200" b="1" dirty="0" err="1">
                <a:solidFill>
                  <a:srgbClr val="FFFFFF"/>
                </a:solidFill>
              </a:rPr>
              <a:t>si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vuole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arrivare</a:t>
            </a:r>
            <a:r>
              <a:rPr lang="en-US" sz="2200" b="1" dirty="0">
                <a:solidFill>
                  <a:srgbClr val="FFFFFF"/>
                </a:solidFill>
              </a:rPr>
              <a:t> a </a:t>
            </a:r>
            <a:r>
              <a:rPr lang="en-US" sz="2200" b="1" dirty="0" err="1">
                <a:solidFill>
                  <a:srgbClr val="FFFFFF"/>
                </a:solidFill>
              </a:rPr>
              <a:t>questa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Soluzione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86FE8EC5-6D64-5D60-B669-57A434BC18E1}"/>
              </a:ext>
            </a:extLst>
          </p:cNvPr>
          <p:cNvSpPr/>
          <p:nvPr/>
        </p:nvSpPr>
        <p:spPr>
          <a:xfrm>
            <a:off x="402336" y="188976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2 · </a:t>
            </a:r>
            <a:r>
              <a:rPr lang="en-US" sz="1100" b="1" cap="all" dirty="0" err="1">
                <a:solidFill>
                  <a:srgbClr val="66CCFF"/>
                </a:solidFill>
              </a:rPr>
              <a:t>L’infrastruttura</a:t>
            </a:r>
            <a:endParaRPr lang="en-US" sz="1100" dirty="0">
              <a:solidFill>
                <a:srgbClr val="66CCFF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76AAB8F4-500F-F868-EDF5-4321DF281513}"/>
              </a:ext>
            </a:extLst>
          </p:cNvPr>
          <p:cNvSpPr/>
          <p:nvPr/>
        </p:nvSpPr>
        <p:spPr>
          <a:xfrm>
            <a:off x="1065276" y="1520952"/>
            <a:ext cx="1997964" cy="3011424"/>
          </a:xfrm>
          <a:prstGeom prst="roundRect">
            <a:avLst/>
          </a:prstGeom>
          <a:gradFill flip="none" rotWithShape="1">
            <a:gsLst>
              <a:gs pos="0">
                <a:srgbClr val="BE4A4A">
                  <a:shade val="30000"/>
                  <a:satMod val="115000"/>
                </a:srgbClr>
              </a:gs>
              <a:gs pos="50000">
                <a:srgbClr val="BE4A4A">
                  <a:shade val="67500"/>
                  <a:satMod val="115000"/>
                </a:srgbClr>
              </a:gs>
              <a:gs pos="100000">
                <a:srgbClr val="BE4A4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BE4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Linux Patch Management</a:t>
            </a:r>
          </a:p>
          <a:p>
            <a:pPr algn="ctr"/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dirty="0"/>
              <a:t>Visione centralizzata:</a:t>
            </a:r>
            <a:r>
              <a:rPr lang="it-IT" sz="1000" dirty="0"/>
              <a:t> necessità di un unico punto di controllo per l'intera infrastruttura.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dirty="0"/>
              <a:t>Interoperabilità:</a:t>
            </a:r>
            <a:r>
              <a:rPr lang="it-IT" sz="1000" dirty="0"/>
              <a:t> necessità di gestire sistemi operativi eterogenei.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dirty="0"/>
              <a:t>Flessibilità strutturale:</a:t>
            </a:r>
            <a:r>
              <a:rPr lang="it-IT" sz="1000" dirty="0"/>
              <a:t> capacità di intervenire in ambienti Cross-</a:t>
            </a:r>
            <a:r>
              <a:rPr lang="it-IT" sz="1000" dirty="0" err="1"/>
              <a:t>tenant</a:t>
            </a:r>
            <a:r>
              <a:rPr lang="it-IT" sz="1000" dirty="0"/>
              <a:t> e CSP-</a:t>
            </a:r>
            <a:r>
              <a:rPr lang="it-IT" sz="1000" dirty="0" err="1"/>
              <a:t>independent</a:t>
            </a:r>
            <a:r>
              <a:rPr lang="it-IT" sz="1000" dirty="0"/>
              <a:t> </a:t>
            </a:r>
            <a:endParaRPr lang="en-US" dirty="0"/>
          </a:p>
        </p:txBody>
      </p:sp>
      <p:sp>
        <p:nvSpPr>
          <p:cNvPr id="56" name="Text 59">
            <a:extLst>
              <a:ext uri="{FF2B5EF4-FFF2-40B4-BE49-F238E27FC236}">
                <a16:creationId xmlns:a16="http://schemas.microsoft.com/office/drawing/2014/main" id="{07622401-7D72-A983-38BC-B7D5872C52C9}"/>
              </a:ext>
            </a:extLst>
          </p:cNvPr>
          <p:cNvSpPr/>
          <p:nvPr/>
        </p:nvSpPr>
        <p:spPr>
          <a:xfrm>
            <a:off x="3164941" y="26609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7A993EA0-6026-2DAB-FD51-3A811D05D698}"/>
              </a:ext>
            </a:extLst>
          </p:cNvPr>
          <p:cNvSpPr/>
          <p:nvPr/>
        </p:nvSpPr>
        <p:spPr>
          <a:xfrm>
            <a:off x="3632402" y="1520952"/>
            <a:ext cx="1997964" cy="301142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Integrazione di Workflow basati su IA</a:t>
            </a:r>
          </a:p>
          <a:p>
            <a:pPr algn="ctr"/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dirty="0"/>
              <a:t>Una volta strutturata l’infrastruttura, avremo il pieno controllo e la gestione dei nostri workflow.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dirty="0"/>
              <a:t>Standardizzazione dei flussi tramite gli Agent predisposti dall’infrastruttura</a:t>
            </a:r>
            <a:endParaRPr lang="en-US" sz="1000" dirty="0"/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54716C8C-C9F6-0FD4-FA44-F742B16EE79A}"/>
              </a:ext>
            </a:extLst>
          </p:cNvPr>
          <p:cNvSpPr/>
          <p:nvPr/>
        </p:nvSpPr>
        <p:spPr>
          <a:xfrm>
            <a:off x="6199528" y="1520952"/>
            <a:ext cx="1997964" cy="301142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Ottimizzazione Continua dei Processi</a:t>
            </a:r>
          </a:p>
          <a:p>
            <a:pPr algn="ctr"/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dirty="0"/>
              <a:t>La gestione interna del workflow abilita un ciclo di feedback costante, garantendo il miglioramento continuo e una perfetta integrazione delle esigenze operative</a:t>
            </a:r>
            <a:endParaRPr lang="en-US" sz="1000" dirty="0"/>
          </a:p>
        </p:txBody>
      </p:sp>
      <p:sp>
        <p:nvSpPr>
          <p:cNvPr id="59" name="Text 59">
            <a:extLst>
              <a:ext uri="{FF2B5EF4-FFF2-40B4-BE49-F238E27FC236}">
                <a16:creationId xmlns:a16="http://schemas.microsoft.com/office/drawing/2014/main" id="{A1580539-8029-C740-5A3C-F5279A1D8CAE}"/>
              </a:ext>
            </a:extLst>
          </p:cNvPr>
          <p:cNvSpPr/>
          <p:nvPr/>
        </p:nvSpPr>
        <p:spPr>
          <a:xfrm>
            <a:off x="5732067" y="26609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5EDBE-200C-DA6F-3CBF-190328DC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DDE18F-F455-C505-058B-B2C23614F0BE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68D90C-3A31-D19B-7955-23A87331AB2C}"/>
              </a:ext>
            </a:extLst>
          </p:cNvPr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 </a:t>
            </a:r>
            <a:r>
              <a:rPr lang="en-US" sz="2200" b="1" dirty="0" err="1">
                <a:solidFill>
                  <a:srgbClr val="FFFFFF"/>
                </a:solidFill>
              </a:rPr>
              <a:t>scelte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dei</a:t>
            </a:r>
            <a:r>
              <a:rPr lang="en-US" sz="2200" b="1" dirty="0">
                <a:solidFill>
                  <a:srgbClr val="FFFFFF"/>
                </a:solidFill>
              </a:rPr>
              <a:t> Tool per </a:t>
            </a:r>
            <a:r>
              <a:rPr lang="en-US" sz="2200" b="1" dirty="0" err="1">
                <a:solidFill>
                  <a:srgbClr val="FFFFFF"/>
                </a:solidFill>
              </a:rPr>
              <a:t>l’infrastruttura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FB3330-8D8F-B27A-69BB-5C103578BA3D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F30CBAEB-15E3-6FC3-CF8E-7862CEB91E04}"/>
              </a:ext>
            </a:extLst>
          </p:cNvPr>
          <p:cNvSpPr/>
          <p:nvPr/>
        </p:nvSpPr>
        <p:spPr>
          <a:xfrm>
            <a:off x="402336" y="188976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2 · </a:t>
            </a:r>
            <a:r>
              <a:rPr lang="en-US" sz="1100" b="1" cap="all" dirty="0" err="1">
                <a:solidFill>
                  <a:srgbClr val="66CCFF"/>
                </a:solidFill>
              </a:rPr>
              <a:t>L’infrastruttura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1026" name="Picture 2" descr="Engage with Uyuni Community Hours - openSUSE News">
            <a:extLst>
              <a:ext uri="{FF2B5EF4-FFF2-40B4-BE49-F238E27FC236}">
                <a16:creationId xmlns:a16="http://schemas.microsoft.com/office/drawing/2014/main" id="{35A44411-18C7-8B0D-E056-97EB41B3B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" y="1414272"/>
            <a:ext cx="1464564" cy="87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F0DCF3F-4018-134B-7927-BB977F44C690}"/>
              </a:ext>
            </a:extLst>
          </p:cNvPr>
          <p:cNvSpPr txBox="1"/>
          <p:nvPr/>
        </p:nvSpPr>
        <p:spPr>
          <a:xfrm>
            <a:off x="2415540" y="1249680"/>
            <a:ext cx="66598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Perchè</a:t>
            </a:r>
            <a:r>
              <a:rPr lang="en-US" b="1" dirty="0"/>
              <a:t> Uyuni?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Progetto </a:t>
            </a:r>
            <a:r>
              <a:rPr lang="it-IT" sz="1400" b="1" dirty="0"/>
              <a:t>Open Source </a:t>
            </a:r>
            <a:r>
              <a:rPr lang="it-IT" sz="1400" dirty="0"/>
              <a:t>Comunitario: licenza GPL 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15 + </a:t>
            </a:r>
            <a:r>
              <a:rPr lang="en-US" sz="1400" dirty="0"/>
              <a:t>anni di </a:t>
            </a:r>
            <a:r>
              <a:rPr lang="en-US" sz="1400" dirty="0" err="1"/>
              <a:t>sviluppo</a:t>
            </a:r>
            <a:r>
              <a:rPr lang="en-US" sz="1400" dirty="0"/>
              <a:t> </a:t>
            </a:r>
            <a:r>
              <a:rPr lang="it-IT" sz="1400" dirty="0"/>
              <a:t>con una vasta community attiva.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Mantenuto</a:t>
            </a:r>
            <a:r>
              <a:rPr lang="en-US" sz="1400" dirty="0"/>
              <a:t> da 	              come </a:t>
            </a:r>
            <a:r>
              <a:rPr lang="en-US" sz="1400" dirty="0" err="1"/>
              <a:t>progetto</a:t>
            </a:r>
            <a:r>
              <a:rPr lang="en-US" sz="1400" dirty="0"/>
              <a:t> “Upstream”.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Zero </a:t>
            </a:r>
            <a:r>
              <a:rPr lang="it-IT" sz="1400" b="1" dirty="0" err="1"/>
              <a:t>Vendor</a:t>
            </a:r>
            <a:r>
              <a:rPr lang="it-IT" sz="1400" b="1" dirty="0"/>
              <a:t> Lock-in</a:t>
            </a:r>
            <a:r>
              <a:rPr lang="it-IT" sz="1400" dirty="0"/>
              <a:t>: totale indipendenza dai singoli fornitori.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Scalabilità Elevata:</a:t>
            </a:r>
            <a:r>
              <a:rPr lang="it-IT" sz="1400" dirty="0"/>
              <a:t> architettura progettata per gestire infrastrutture di grandi dimensioni.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+ 550         +240</a:t>
            </a:r>
          </a:p>
          <a:p>
            <a:endParaRPr lang="en-US" b="1" dirty="0"/>
          </a:p>
          <a:p>
            <a:r>
              <a:rPr lang="en-US" b="1" dirty="0" err="1"/>
              <a:t>Basato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Salt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Permette la gestione e la configurazione dei sistemi operativi.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Gestione di server, macchine virtuali, container, database, server web, dispositivi di rete e altro ancora.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Garantire una configurazione coerente e prevenire </a:t>
            </a:r>
            <a:r>
              <a:rPr lang="it-IT" sz="1400" dirty="0" err="1"/>
              <a:t>configuration</a:t>
            </a:r>
            <a:r>
              <a:rPr lang="it-IT" sz="1400" dirty="0"/>
              <a:t> drift.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+ 15,2 k         + 5,6 k </a:t>
            </a:r>
            <a:endParaRPr lang="en-US" sz="1400" b="1" dirty="0"/>
          </a:p>
        </p:txBody>
      </p:sp>
      <p:pic>
        <p:nvPicPr>
          <p:cNvPr id="7" name="Immagine 6" descr="SUSE - All Things Open 2024">
            <a:extLst>
              <a:ext uri="{FF2B5EF4-FFF2-40B4-BE49-F238E27FC236}">
                <a16:creationId xmlns:a16="http://schemas.microsoft.com/office/drawing/2014/main" id="{CB6058D6-497F-DC73-9A47-698E1E61F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3721" y="1855089"/>
            <a:ext cx="885825" cy="496062"/>
          </a:xfrm>
          <a:prstGeom prst="rect">
            <a:avLst/>
          </a:prstGeom>
        </p:spPr>
      </p:pic>
      <p:pic>
        <p:nvPicPr>
          <p:cNvPr id="8" name="Immagine 7" descr="GitHub Stars Feed | Get the latest feed of GitHub Stars out there! 🌟 ⭐ ✨">
            <a:extLst>
              <a:ext uri="{FF2B5EF4-FFF2-40B4-BE49-F238E27FC236}">
                <a16:creationId xmlns:a16="http://schemas.microsoft.com/office/drawing/2014/main" id="{98408062-824A-6781-D724-B0A92CCF74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13602" y="2842142"/>
            <a:ext cx="217052" cy="217052"/>
          </a:xfrm>
          <a:prstGeom prst="rect">
            <a:avLst/>
          </a:prstGeom>
        </p:spPr>
      </p:pic>
      <p:pic>
        <p:nvPicPr>
          <p:cNvPr id="9" name="Picture 6" descr="Icon Request: Github Fork icon · Issue #14803 · FortAwesome/Font-Awesome">
            <a:extLst>
              <a:ext uri="{FF2B5EF4-FFF2-40B4-BE49-F238E27FC236}">
                <a16:creationId xmlns:a16="http://schemas.microsoft.com/office/drawing/2014/main" id="{3DC59A15-C070-84B5-9584-E369F757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4154867" y="2842142"/>
            <a:ext cx="151767" cy="2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181A2AC-C623-EF6D-2005-02100B183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02" y="3623230"/>
            <a:ext cx="2133600" cy="7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magine 9" descr="GitHub Stars Feed | Get the latest feed of GitHub Stars out there! 🌟 ⭐ ✨">
            <a:extLst>
              <a:ext uri="{FF2B5EF4-FFF2-40B4-BE49-F238E27FC236}">
                <a16:creationId xmlns:a16="http://schemas.microsoft.com/office/drawing/2014/main" id="{33FAE671-E9ED-45C4-B4D9-E9FF83B6DF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22128" y="4461306"/>
            <a:ext cx="217052" cy="217052"/>
          </a:xfrm>
          <a:prstGeom prst="rect">
            <a:avLst/>
          </a:prstGeom>
        </p:spPr>
      </p:pic>
      <p:pic>
        <p:nvPicPr>
          <p:cNvPr id="11" name="Picture 6" descr="Icon Request: Github Fork icon · Issue #14803 · FortAwesome/Font-Awesome">
            <a:extLst>
              <a:ext uri="{FF2B5EF4-FFF2-40B4-BE49-F238E27FC236}">
                <a16:creationId xmlns:a16="http://schemas.microsoft.com/office/drawing/2014/main" id="{09A4D6B2-F6F1-A928-CF2E-6473E18E6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4254943" y="4466758"/>
            <a:ext cx="151767" cy="2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42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1876E-938B-B67B-7F7F-0A45AF8C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3D3B29-4E77-0986-FA18-52F127FE48C2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36AC11-BE05-1677-7E67-4EE5B4F766ED}"/>
              </a:ext>
            </a:extLst>
          </p:cNvPr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L’infrastruttura</a:t>
            </a:r>
            <a:r>
              <a:rPr lang="en-US" sz="2200" b="1" dirty="0">
                <a:solidFill>
                  <a:srgbClr val="FFFFFF"/>
                </a:solidFill>
              </a:rPr>
              <a:t> Uyuni – Linux Patch Management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ED20F9-EECD-A474-AC7E-7F80015C9FC8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4152C651-D68E-7923-CC12-A16DD005E60B}"/>
              </a:ext>
            </a:extLst>
          </p:cNvPr>
          <p:cNvSpPr/>
          <p:nvPr/>
        </p:nvSpPr>
        <p:spPr>
          <a:xfrm>
            <a:off x="402336" y="188976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2 · </a:t>
            </a:r>
            <a:r>
              <a:rPr lang="en-US" sz="1100" b="1" cap="all" dirty="0" err="1">
                <a:solidFill>
                  <a:srgbClr val="66CCFF"/>
                </a:solidFill>
              </a:rPr>
              <a:t>L’infrastruttura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16" name="Immagine 15" descr="Immagine che contiene schermata, Policromia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3AA69BDE-DBE0-E075-FC46-0E3226F29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97" y="1265682"/>
            <a:ext cx="810006" cy="810006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C9A991B-E05D-DD7A-5D8E-6F931A24DD1D}"/>
              </a:ext>
            </a:extLst>
          </p:cNvPr>
          <p:cNvSpPr txBox="1"/>
          <p:nvPr/>
        </p:nvSpPr>
        <p:spPr>
          <a:xfrm>
            <a:off x="3862959" y="2002536"/>
            <a:ext cx="141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Uyuni Server</a:t>
            </a:r>
          </a:p>
        </p:txBody>
      </p:sp>
      <p:pic>
        <p:nvPicPr>
          <p:cNvPr id="19" name="Immagine 18" descr="Immagine che contiene schizzo, Simmetria,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CB2E63C0-24E8-C1E3-ED8B-FE275CC99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21" y="2745807"/>
            <a:ext cx="494767" cy="472643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211A5AF-07F5-7973-A52E-05450F5B77E0}"/>
              </a:ext>
            </a:extLst>
          </p:cNvPr>
          <p:cNvSpPr txBox="1"/>
          <p:nvPr/>
        </p:nvSpPr>
        <p:spPr>
          <a:xfrm>
            <a:off x="557734" y="3183374"/>
            <a:ext cx="119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Salt Proxy</a:t>
            </a:r>
          </a:p>
        </p:txBody>
      </p:sp>
      <p:pic>
        <p:nvPicPr>
          <p:cNvPr id="22" name="Immagine 21" descr="Immagine che contiene schermata, testo, design&#10;&#10;Il contenuto generato dall'IA potrebbe non essere corretto.">
            <a:extLst>
              <a:ext uri="{FF2B5EF4-FFF2-40B4-BE49-F238E27FC236}">
                <a16:creationId xmlns:a16="http://schemas.microsoft.com/office/drawing/2014/main" id="{E35F9EAE-F744-6736-B9EE-875A1FA86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63" y="4002424"/>
            <a:ext cx="1418082" cy="882841"/>
          </a:xfrm>
          <a:prstGeom prst="rect">
            <a:avLst/>
          </a:prstGeom>
        </p:spPr>
      </p:pic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72D8140C-45E2-79D2-36F2-9F52F86A803F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1155904" y="3552706"/>
            <a:ext cx="0" cy="44971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" name="Immagine 25" descr="Immagine che contiene schizzo, Simmetria,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449542A9-3B00-BF46-AA71-B52CC8E32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5110" y="2745807"/>
            <a:ext cx="494767" cy="472643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0B83930-D6A1-6FA7-797B-E48FC35A7A6C}"/>
              </a:ext>
            </a:extLst>
          </p:cNvPr>
          <p:cNvSpPr txBox="1"/>
          <p:nvPr/>
        </p:nvSpPr>
        <p:spPr>
          <a:xfrm>
            <a:off x="2464323" y="3183374"/>
            <a:ext cx="119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Salt Proxy</a:t>
            </a:r>
          </a:p>
        </p:txBody>
      </p:sp>
      <p:pic>
        <p:nvPicPr>
          <p:cNvPr id="28" name="Immagine 27" descr="Immagine che contiene schermata, testo, design&#10;&#10;Il contenuto generato dall'IA potrebbe non essere corretto.">
            <a:extLst>
              <a:ext uri="{FF2B5EF4-FFF2-40B4-BE49-F238E27FC236}">
                <a16:creationId xmlns:a16="http://schemas.microsoft.com/office/drawing/2014/main" id="{D59FFCB1-1F27-FEB9-844B-B1913DD11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3452" y="4002424"/>
            <a:ext cx="1418082" cy="882841"/>
          </a:xfrm>
          <a:prstGeom prst="rect">
            <a:avLst/>
          </a:prstGeom>
        </p:spPr>
      </p:pic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EC588D16-F893-9C99-1567-7D82F6A5CCE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062493" y="3552706"/>
            <a:ext cx="0" cy="44971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0" name="Immagine 29" descr="Immagine che contiene schizzo, Simmetria,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7C1A7E76-652F-B0EB-9FA9-E3456CE37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55" y="2745807"/>
            <a:ext cx="494767" cy="472643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0B4C751-0B0E-98AE-D9C3-6E68B225C677}"/>
              </a:ext>
            </a:extLst>
          </p:cNvPr>
          <p:cNvSpPr txBox="1"/>
          <p:nvPr/>
        </p:nvSpPr>
        <p:spPr>
          <a:xfrm>
            <a:off x="4277868" y="3183374"/>
            <a:ext cx="119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Salt Proxy</a:t>
            </a:r>
          </a:p>
        </p:txBody>
      </p:sp>
      <p:pic>
        <p:nvPicPr>
          <p:cNvPr id="32" name="Immagine 31" descr="Immagine che contiene schermata, testo, design&#10;&#10;Il contenuto generato dall'IA potrebbe non essere corretto.">
            <a:extLst>
              <a:ext uri="{FF2B5EF4-FFF2-40B4-BE49-F238E27FC236}">
                <a16:creationId xmlns:a16="http://schemas.microsoft.com/office/drawing/2014/main" id="{A8C45CD8-5CD6-CC34-DD3E-421E8A499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6997" y="4002424"/>
            <a:ext cx="1418082" cy="882841"/>
          </a:xfrm>
          <a:prstGeom prst="rect">
            <a:avLst/>
          </a:prstGeom>
        </p:spPr>
      </p:pic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AA195A30-C724-242C-A432-BE537E1D87C7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4876038" y="3552706"/>
            <a:ext cx="0" cy="44971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Immagine 33" descr="Immagine che contiene schizzo, Simmetria,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94B508AB-14E7-784F-A348-E2A0AC2BA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199" y="2745807"/>
            <a:ext cx="494767" cy="472643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46EAEEFE-7669-A525-2EB5-C5D74013A0D5}"/>
              </a:ext>
            </a:extLst>
          </p:cNvPr>
          <p:cNvSpPr txBox="1"/>
          <p:nvPr/>
        </p:nvSpPr>
        <p:spPr>
          <a:xfrm>
            <a:off x="6091412" y="3183374"/>
            <a:ext cx="119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Salt Proxy</a:t>
            </a:r>
          </a:p>
        </p:txBody>
      </p:sp>
      <p:pic>
        <p:nvPicPr>
          <p:cNvPr id="36" name="Immagine 35" descr="Immagine che contiene schermata, testo, design&#10;&#10;Il contenuto generato dall'IA potrebbe non essere corretto.">
            <a:extLst>
              <a:ext uri="{FF2B5EF4-FFF2-40B4-BE49-F238E27FC236}">
                <a16:creationId xmlns:a16="http://schemas.microsoft.com/office/drawing/2014/main" id="{47CFD3EA-7D89-AE4D-11E8-C2BD17C07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541" y="4002424"/>
            <a:ext cx="1418082" cy="882841"/>
          </a:xfrm>
          <a:prstGeom prst="rect">
            <a:avLst/>
          </a:prstGeom>
        </p:spPr>
      </p:pic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E7B8AACE-7E76-F4FC-18AD-FCB7DF603034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6689582" y="3552706"/>
            <a:ext cx="0" cy="44971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9D1F5103-1E1D-23EF-7D3D-F5D48E26D70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1493520" y="2187202"/>
            <a:ext cx="2369439" cy="55860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1EAAF20-FCAC-7ADB-7F01-E48FB7076336}"/>
              </a:ext>
            </a:extLst>
          </p:cNvPr>
          <p:cNvSpPr txBox="1"/>
          <p:nvPr/>
        </p:nvSpPr>
        <p:spPr>
          <a:xfrm rot="20784624">
            <a:off x="1837133" y="2148989"/>
            <a:ext cx="164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Canale </a:t>
            </a:r>
            <a:r>
              <a:rPr lang="en-US" dirty="0" err="1">
                <a:solidFill>
                  <a:schemeClr val="accent1"/>
                </a:solidFill>
              </a:rPr>
              <a:t>privato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BB8B4961-2BE3-5A92-0E14-A8B05B60CF4A}"/>
              </a:ext>
            </a:extLst>
          </p:cNvPr>
          <p:cNvCxnSpPr>
            <a:cxnSpLocks/>
          </p:cNvCxnSpPr>
          <p:nvPr/>
        </p:nvCxnSpPr>
        <p:spPr>
          <a:xfrm flipH="1">
            <a:off x="3291916" y="2371868"/>
            <a:ext cx="925679" cy="37393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B5B95F55-F2B1-84FA-E6F6-396C4E14B264}"/>
              </a:ext>
            </a:extLst>
          </p:cNvPr>
          <p:cNvCxnSpPr>
            <a:cxnSpLocks/>
          </p:cNvCxnSpPr>
          <p:nvPr/>
        </p:nvCxnSpPr>
        <p:spPr>
          <a:xfrm>
            <a:off x="4777632" y="2335180"/>
            <a:ext cx="30638" cy="39288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7DD50BC-655C-A20B-8786-9DCA1FF131FC}"/>
              </a:ext>
            </a:extLst>
          </p:cNvPr>
          <p:cNvCxnSpPr>
            <a:cxnSpLocks/>
          </p:cNvCxnSpPr>
          <p:nvPr/>
        </p:nvCxnSpPr>
        <p:spPr>
          <a:xfrm>
            <a:off x="5132268" y="2315605"/>
            <a:ext cx="1253292" cy="55812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F81B9C30-C2F1-9315-42EE-3F6060ED30FF}"/>
              </a:ext>
            </a:extLst>
          </p:cNvPr>
          <p:cNvCxnSpPr>
            <a:cxnSpLocks/>
          </p:cNvCxnSpPr>
          <p:nvPr/>
        </p:nvCxnSpPr>
        <p:spPr>
          <a:xfrm>
            <a:off x="5372466" y="2075688"/>
            <a:ext cx="2887614" cy="804988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F6C93389-6371-F580-A36F-02F62E5B902A}"/>
              </a:ext>
            </a:extLst>
          </p:cNvPr>
          <p:cNvCxnSpPr>
            <a:cxnSpLocks/>
          </p:cNvCxnSpPr>
          <p:nvPr/>
        </p:nvCxnSpPr>
        <p:spPr>
          <a:xfrm>
            <a:off x="5372466" y="1897536"/>
            <a:ext cx="2994294" cy="52155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BE0857FA-D0AF-C709-7B2B-AF87806B96D9}"/>
              </a:ext>
            </a:extLst>
          </p:cNvPr>
          <p:cNvSpPr txBox="1"/>
          <p:nvPr/>
        </p:nvSpPr>
        <p:spPr>
          <a:xfrm>
            <a:off x="7139940" y="1358401"/>
            <a:ext cx="601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…</a:t>
            </a:r>
          </a:p>
        </p:txBody>
      </p:sp>
      <p:cxnSp>
        <p:nvCxnSpPr>
          <p:cNvPr id="1027" name="Connettore 2 1026">
            <a:extLst>
              <a:ext uri="{FF2B5EF4-FFF2-40B4-BE49-F238E27FC236}">
                <a16:creationId xmlns:a16="http://schemas.microsoft.com/office/drawing/2014/main" id="{05AB3595-FA19-D5D9-E707-AD969E0F99D3}"/>
              </a:ext>
            </a:extLst>
          </p:cNvPr>
          <p:cNvCxnSpPr>
            <a:cxnSpLocks/>
          </p:cNvCxnSpPr>
          <p:nvPr/>
        </p:nvCxnSpPr>
        <p:spPr>
          <a:xfrm>
            <a:off x="5372466" y="1730871"/>
            <a:ext cx="3260994" cy="258022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87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1B5EE-B8B5-4510-67CE-6A04B82B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86B408-91DD-8CE4-BAA9-21E68D7968BD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5D8631-28EB-35BC-B336-E3154534675B}"/>
              </a:ext>
            </a:extLst>
          </p:cNvPr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Interfaccia di </a:t>
            </a:r>
            <a:r>
              <a:rPr lang="en-US" sz="2400" dirty="0" err="1">
                <a:solidFill>
                  <a:schemeClr val="bg1"/>
                </a:solidFill>
              </a:rPr>
              <a:t>Integrazione</a:t>
            </a:r>
            <a:r>
              <a:rPr lang="en-US" sz="2400" dirty="0">
                <a:solidFill>
                  <a:schemeClr val="bg1"/>
                </a:solidFill>
              </a:rPr>
              <a:t> con Uyuni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0DEB43D-5524-ABAA-DB25-F0030EB708B6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F6D575F0-03B1-659B-86B2-50E133158BCC}"/>
              </a:ext>
            </a:extLst>
          </p:cNvPr>
          <p:cNvSpPr/>
          <p:nvPr/>
        </p:nvSpPr>
        <p:spPr>
          <a:xfrm>
            <a:off x="402336" y="188976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2 · </a:t>
            </a:r>
            <a:r>
              <a:rPr lang="en-US" sz="1100" b="1" cap="all" dirty="0" err="1">
                <a:solidFill>
                  <a:srgbClr val="66CCFF"/>
                </a:solidFill>
              </a:rPr>
              <a:t>L’infrastruttura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3" name="Picture 2" descr="Engage with Uyuni Community Hours - openSUSE News">
            <a:extLst>
              <a:ext uri="{FF2B5EF4-FFF2-40B4-BE49-F238E27FC236}">
                <a16:creationId xmlns:a16="http://schemas.microsoft.com/office/drawing/2014/main" id="{79718C4C-7422-4F3B-56BD-F2708CB98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34716"/>
            <a:ext cx="1264920" cy="75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82E48AC-F19B-D368-16D9-9EE6CB362C6A}"/>
              </a:ext>
            </a:extLst>
          </p:cNvPr>
          <p:cNvSpPr txBox="1"/>
          <p:nvPr/>
        </p:nvSpPr>
        <p:spPr>
          <a:xfrm>
            <a:off x="1996440" y="1280160"/>
            <a:ext cx="68808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API Endpoint</a:t>
            </a:r>
            <a:r>
              <a:rPr lang="it-IT" dirty="0"/>
              <a:t>: Uyuni espone le proprie funzionalità tramite un endpoint XML-RPC (concettualmente simile a un'API REST).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Comunicazione</a:t>
            </a:r>
            <a:r>
              <a:rPr lang="it-IT" dirty="0"/>
              <a:t>: Il client invia una richiesta in formato XML tramite protocollo HTTP, invocando una funzione; il server elabora l'operazione e restituisce la risposta in formato XML.</a:t>
            </a:r>
            <a:endParaRPr lang="en-US" dirty="0"/>
          </a:p>
        </p:txBody>
      </p:sp>
      <p:pic>
        <p:nvPicPr>
          <p:cNvPr id="7" name="Immagine 6" descr="Immagine che contiene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3001F97A-E5CB-9445-BA8A-9C758586E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96" y="3213796"/>
            <a:ext cx="1314292" cy="1055656"/>
          </a:xfrm>
          <a:prstGeom prst="rect">
            <a:avLst/>
          </a:prstGeom>
        </p:spPr>
      </p:pic>
      <p:sp>
        <p:nvSpPr>
          <p:cNvPr id="8" name="Text 59">
            <a:extLst>
              <a:ext uri="{FF2B5EF4-FFF2-40B4-BE49-F238E27FC236}">
                <a16:creationId xmlns:a16="http://schemas.microsoft.com/office/drawing/2014/main" id="{24D221E0-E8C5-64E0-F5E9-E7FE2AC0D542}"/>
              </a:ext>
            </a:extLst>
          </p:cNvPr>
          <p:cNvSpPr/>
          <p:nvPr/>
        </p:nvSpPr>
        <p:spPr>
          <a:xfrm>
            <a:off x="2244852" y="3446397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  <p:pic>
        <p:nvPicPr>
          <p:cNvPr id="9" name="Immagine 8" descr="Immagine che contiene schermata, Policromia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B4142612-3011-835A-3F76-FD8006E80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760" y="3503071"/>
            <a:ext cx="810006" cy="810006"/>
          </a:xfrm>
          <a:prstGeom prst="rect">
            <a:avLst/>
          </a:prstGeom>
        </p:spPr>
      </p:pic>
      <p:sp>
        <p:nvSpPr>
          <p:cNvPr id="10" name="Text 59">
            <a:extLst>
              <a:ext uri="{FF2B5EF4-FFF2-40B4-BE49-F238E27FC236}">
                <a16:creationId xmlns:a16="http://schemas.microsoft.com/office/drawing/2014/main" id="{747E0C50-8EFA-2AF2-3FCF-750CB32DF021}"/>
              </a:ext>
            </a:extLst>
          </p:cNvPr>
          <p:cNvSpPr/>
          <p:nvPr/>
        </p:nvSpPr>
        <p:spPr>
          <a:xfrm rot="10800000">
            <a:off x="2235471" y="38122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0005C3C-8EBD-D279-4895-7B3F5470FC19}"/>
              </a:ext>
            </a:extLst>
          </p:cNvPr>
          <p:cNvSpPr txBox="1"/>
          <p:nvPr/>
        </p:nvSpPr>
        <p:spPr>
          <a:xfrm>
            <a:off x="2840722" y="4269452"/>
            <a:ext cx="141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Uyuni Server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372E1B9-31E6-BB46-8151-F611B4B19DAE}"/>
              </a:ext>
            </a:extLst>
          </p:cNvPr>
          <p:cNvSpPr txBox="1"/>
          <p:nvPr/>
        </p:nvSpPr>
        <p:spPr>
          <a:xfrm>
            <a:off x="2039099" y="4136198"/>
            <a:ext cx="777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XML-RPC</a:t>
            </a:r>
            <a:endParaRPr lang="en-US" sz="1200" dirty="0"/>
          </a:p>
        </p:txBody>
      </p:sp>
      <p:pic>
        <p:nvPicPr>
          <p:cNvPr id="13" name="Immagine 12" descr="Immagine che contiene schizzo, Simmetria,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38202888-1F66-0A6C-9950-9B9881DE1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156" y="3714716"/>
            <a:ext cx="494767" cy="472643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E6E8422-1E66-EC05-562F-B5BEF9CC271D}"/>
              </a:ext>
            </a:extLst>
          </p:cNvPr>
          <p:cNvSpPr txBox="1"/>
          <p:nvPr/>
        </p:nvSpPr>
        <p:spPr>
          <a:xfrm>
            <a:off x="4707369" y="4228531"/>
            <a:ext cx="119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Salt Proxy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73BB6FB-E540-DF34-940D-3AB504DC6D0C}"/>
              </a:ext>
            </a:extLst>
          </p:cNvPr>
          <p:cNvCxnSpPr>
            <a:cxnSpLocks/>
          </p:cNvCxnSpPr>
          <p:nvPr/>
        </p:nvCxnSpPr>
        <p:spPr>
          <a:xfrm flipH="1">
            <a:off x="4003957" y="3903597"/>
            <a:ext cx="985619" cy="5996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95F006E-8920-E99F-234E-420D21DA8899}"/>
              </a:ext>
            </a:extLst>
          </p:cNvPr>
          <p:cNvSpPr txBox="1"/>
          <p:nvPr/>
        </p:nvSpPr>
        <p:spPr>
          <a:xfrm>
            <a:off x="4179570" y="3374710"/>
            <a:ext cx="81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Canale </a:t>
            </a:r>
          </a:p>
          <a:p>
            <a:r>
              <a:rPr lang="en-US" sz="1400" dirty="0" err="1">
                <a:solidFill>
                  <a:schemeClr val="accent1"/>
                </a:solidFill>
              </a:rPr>
              <a:t>privato</a:t>
            </a:r>
            <a:endParaRPr lang="en-US" sz="1400" dirty="0">
              <a:solidFill>
                <a:schemeClr val="accent1"/>
              </a:solidFill>
            </a:endParaRP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A5183CA9-D05C-B0EB-8655-068FAF68BA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7670" y="3503071"/>
            <a:ext cx="1420491" cy="877900"/>
          </a:xfrm>
          <a:prstGeom prst="rect">
            <a:avLst/>
          </a:prstGeom>
        </p:spPr>
      </p:pic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CAFFCBAE-CE66-EF5C-14DD-7CF760113AF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5552923" y="3948039"/>
            <a:ext cx="684747" cy="299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84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A5907-E672-2F5A-7DC5-1319F189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E58EB4-B546-13A8-AF82-F55D5A851C3A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792787-EC80-CC68-DB3A-8D37DE7C2603}"/>
              </a:ext>
            </a:extLst>
          </p:cNvPr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400" dirty="0">
                <a:solidFill>
                  <a:schemeClr val="bg1"/>
                </a:solidFill>
              </a:rPr>
              <a:t>I </a:t>
            </a:r>
            <a:r>
              <a:rPr lang="it-IT" sz="2400" dirty="0" err="1">
                <a:solidFill>
                  <a:schemeClr val="bg1"/>
                </a:solidFill>
              </a:rPr>
              <a:t>Vanataggi</a:t>
            </a:r>
            <a:r>
              <a:rPr lang="it-IT" sz="2400" dirty="0">
                <a:solidFill>
                  <a:schemeClr val="bg1"/>
                </a:solidFill>
              </a:rPr>
              <a:t> dell’Intelligenza Artificiale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93548B7-261C-8F21-84AF-6B95F16FB09A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8160A7CD-8128-7B37-925A-0232E7DF97DA}"/>
              </a:ext>
            </a:extLst>
          </p:cNvPr>
          <p:cNvSpPr/>
          <p:nvPr/>
        </p:nvSpPr>
        <p:spPr>
          <a:xfrm>
            <a:off x="402336" y="188976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3 · La VISIONE AI</a:t>
            </a:r>
            <a:endParaRPr lang="en-US" sz="1100" dirty="0">
              <a:solidFill>
                <a:srgbClr val="66CCFF"/>
              </a:solidFill>
            </a:endParaRPr>
          </a:p>
        </p:txBody>
      </p:sp>
      <p:sp>
        <p:nvSpPr>
          <p:cNvPr id="16" name="Parallelogramma 15">
            <a:extLst>
              <a:ext uri="{FF2B5EF4-FFF2-40B4-BE49-F238E27FC236}">
                <a16:creationId xmlns:a16="http://schemas.microsoft.com/office/drawing/2014/main" id="{75DE62D8-4A84-DEE1-5170-E06B83717088}"/>
              </a:ext>
            </a:extLst>
          </p:cNvPr>
          <p:cNvSpPr/>
          <p:nvPr/>
        </p:nvSpPr>
        <p:spPr>
          <a:xfrm flipH="1">
            <a:off x="3856384" y="1833699"/>
            <a:ext cx="1946366" cy="2419240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Parallelogramma 16">
            <a:extLst>
              <a:ext uri="{FF2B5EF4-FFF2-40B4-BE49-F238E27FC236}">
                <a16:creationId xmlns:a16="http://schemas.microsoft.com/office/drawing/2014/main" id="{6446AF0A-E13A-5E46-B917-EE7FDE40F404}"/>
              </a:ext>
            </a:extLst>
          </p:cNvPr>
          <p:cNvSpPr/>
          <p:nvPr/>
        </p:nvSpPr>
        <p:spPr>
          <a:xfrm flipH="1">
            <a:off x="2050866" y="1833698"/>
            <a:ext cx="1946366" cy="2419241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arallelogramma 17">
            <a:extLst>
              <a:ext uri="{FF2B5EF4-FFF2-40B4-BE49-F238E27FC236}">
                <a16:creationId xmlns:a16="http://schemas.microsoft.com/office/drawing/2014/main" id="{5E1C5F97-805E-64F2-3694-2B9ED36B935C}"/>
              </a:ext>
            </a:extLst>
          </p:cNvPr>
          <p:cNvSpPr/>
          <p:nvPr/>
        </p:nvSpPr>
        <p:spPr>
          <a:xfrm flipH="1">
            <a:off x="245348" y="1833699"/>
            <a:ext cx="1946366" cy="2419241"/>
          </a:xfrm>
          <a:prstGeom prst="parallelogram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738EDDB-A75D-4FF8-0C82-E8674C493E4A}"/>
              </a:ext>
            </a:extLst>
          </p:cNvPr>
          <p:cNvSpPr/>
          <p:nvPr/>
        </p:nvSpPr>
        <p:spPr>
          <a:xfrm>
            <a:off x="634259" y="2465398"/>
            <a:ext cx="1041461" cy="427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Automazione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2742F7AB-E2EC-68D0-A6D6-8D8C6BF2ABC2}"/>
              </a:ext>
            </a:extLst>
          </p:cNvPr>
          <p:cNvSpPr/>
          <p:nvPr/>
        </p:nvSpPr>
        <p:spPr>
          <a:xfrm>
            <a:off x="599231" y="1833699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C68F73D-EB0B-56E1-699A-EC1BB073185E}"/>
              </a:ext>
            </a:extLst>
          </p:cNvPr>
          <p:cNvSpPr/>
          <p:nvPr/>
        </p:nvSpPr>
        <p:spPr>
          <a:xfrm>
            <a:off x="583556" y="2968318"/>
            <a:ext cx="1371600" cy="674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it-IT" sz="1000" dirty="0">
                <a:solidFill>
                  <a:schemeClr val="bg1"/>
                </a:solidFill>
              </a:rPr>
              <a:t>Esecuzione autonoma di task ripetitivi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F177EA66-C5E3-C083-EE2F-DEBDCB67AAF1}"/>
              </a:ext>
            </a:extLst>
          </p:cNvPr>
          <p:cNvSpPr/>
          <p:nvPr/>
        </p:nvSpPr>
        <p:spPr>
          <a:xfrm>
            <a:off x="2281727" y="1833699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3182B58B-4897-3497-8849-81B6F1F8330A}"/>
              </a:ext>
            </a:extLst>
          </p:cNvPr>
          <p:cNvSpPr/>
          <p:nvPr/>
        </p:nvSpPr>
        <p:spPr>
          <a:xfrm>
            <a:off x="2468224" y="2542142"/>
            <a:ext cx="1013014" cy="2890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Intelligence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E6C68620-9935-BAC2-FE62-4A31C677C6F1}"/>
              </a:ext>
            </a:extLst>
          </p:cNvPr>
          <p:cNvSpPr/>
          <p:nvPr/>
        </p:nvSpPr>
        <p:spPr>
          <a:xfrm>
            <a:off x="2389859" y="2955200"/>
            <a:ext cx="1339826" cy="70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it-IT" sz="1000" dirty="0">
                <a:solidFill>
                  <a:schemeClr val="bg1"/>
                </a:solidFill>
              </a:rPr>
              <a:t>Analisi contestuale e root cause </a:t>
            </a:r>
            <a:r>
              <a:rPr lang="it-IT" sz="1000" dirty="0" err="1">
                <a:solidFill>
                  <a:schemeClr val="bg1"/>
                </a:solidFill>
              </a:rPr>
              <a:t>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FD4F9A6-61AC-0951-7E43-B00505796506}"/>
              </a:ext>
            </a:extLst>
          </p:cNvPr>
          <p:cNvSpPr/>
          <p:nvPr/>
        </p:nvSpPr>
        <p:spPr>
          <a:xfrm>
            <a:off x="4265604" y="2500449"/>
            <a:ext cx="896933" cy="310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Novelty</a:t>
            </a:r>
            <a:endParaRPr lang="en-US" sz="115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23740F55-BC57-402F-36B6-CA73DED46A69}"/>
              </a:ext>
            </a:extLst>
          </p:cNvPr>
          <p:cNvSpPr/>
          <p:nvPr/>
        </p:nvSpPr>
        <p:spPr>
          <a:xfrm>
            <a:off x="4214191" y="2929383"/>
            <a:ext cx="1371600" cy="772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it-IT" sz="1000" dirty="0">
                <a:solidFill>
                  <a:schemeClr val="bg1"/>
                </a:solidFill>
              </a:rPr>
              <a:t>Generazione di insight nuovi e </a:t>
            </a:r>
            <a:r>
              <a:rPr lang="it-IT" sz="1000" dirty="0" err="1">
                <a:solidFill>
                  <a:schemeClr val="bg1"/>
                </a:solidFill>
              </a:rPr>
              <a:t>remediation</a:t>
            </a:r>
            <a:r>
              <a:rPr lang="it-IT" sz="1000" dirty="0">
                <a:solidFill>
                  <a:schemeClr val="bg1"/>
                </a:solidFill>
              </a:rPr>
              <a:t> suggerite in linguaggio naturale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35" name="Immagine 34" descr="Immagine che contiene design, creatività&#10;&#10;Il contenuto generato dall'IA potrebbe non essere corretto.">
            <a:extLst>
              <a:ext uri="{FF2B5EF4-FFF2-40B4-BE49-F238E27FC236}">
                <a16:creationId xmlns:a16="http://schemas.microsoft.com/office/drawing/2014/main" id="{7C749A47-09E3-0F1A-3775-B64191ABB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71" y="1957144"/>
            <a:ext cx="584998" cy="584998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779E3BCA-0CBF-3380-C80E-1002C047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582" y="1923034"/>
            <a:ext cx="619636" cy="619636"/>
          </a:xfrm>
          <a:prstGeom prst="rect">
            <a:avLst/>
          </a:prstGeom>
        </p:spPr>
      </p:pic>
      <p:pic>
        <p:nvPicPr>
          <p:cNvPr id="4100" name="Picture 4" descr="New Logo. Novelty Icon. Yellow Star or Flower with Letters Stock Vector -  Illustration of object, sticker: 113158643">
            <a:extLst>
              <a:ext uri="{FF2B5EF4-FFF2-40B4-BE49-F238E27FC236}">
                <a16:creationId xmlns:a16="http://schemas.microsoft.com/office/drawing/2014/main" id="{4B05C572-6EA8-68AA-6595-CFCD63424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7632" t="10825" r="17424" b="25222"/>
          <a:stretch>
            <a:fillRect/>
          </a:stretch>
        </p:blipFill>
        <p:spPr bwMode="auto">
          <a:xfrm>
            <a:off x="4455100" y="1995135"/>
            <a:ext cx="517942" cy="54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roblem - Free user icons">
            <a:extLst>
              <a:ext uri="{FF2B5EF4-FFF2-40B4-BE49-F238E27FC236}">
                <a16:creationId xmlns:a16="http://schemas.microsoft.com/office/drawing/2014/main" id="{98A38412-8F6D-9A9F-9DF4-1E6F46FF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6074502" y="1610905"/>
            <a:ext cx="787771" cy="78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569DACB-3F0B-8034-36A5-50CBCF45B65D}"/>
              </a:ext>
            </a:extLst>
          </p:cNvPr>
          <p:cNvSpPr txBox="1"/>
          <p:nvPr/>
        </p:nvSpPr>
        <p:spPr>
          <a:xfrm>
            <a:off x="6862273" y="1843170"/>
            <a:ext cx="172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 </a:t>
            </a:r>
            <a:r>
              <a:rPr lang="en-US" b="1" dirty="0" err="1">
                <a:solidFill>
                  <a:srgbClr val="C00000"/>
                </a:solidFill>
              </a:rPr>
              <a:t>gli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svantaggi</a:t>
            </a:r>
            <a:r>
              <a:rPr lang="en-US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2EE2741A-D344-EDE6-7B37-2A5A4E6944B3}"/>
              </a:ext>
            </a:extLst>
          </p:cNvPr>
          <p:cNvSpPr/>
          <p:nvPr/>
        </p:nvSpPr>
        <p:spPr>
          <a:xfrm>
            <a:off x="6419889" y="2692433"/>
            <a:ext cx="2010156" cy="610636"/>
          </a:xfrm>
          <a:prstGeom prst="roundRect">
            <a:avLst/>
          </a:prstGeom>
          <a:gradFill flip="none" rotWithShape="1">
            <a:gsLst>
              <a:gs pos="0">
                <a:srgbClr val="BE4A4A">
                  <a:shade val="30000"/>
                  <a:satMod val="115000"/>
                </a:srgbClr>
              </a:gs>
              <a:gs pos="50000">
                <a:srgbClr val="BE4A4A">
                  <a:shade val="67500"/>
                  <a:satMod val="115000"/>
                </a:srgbClr>
              </a:gs>
              <a:gs pos="100000">
                <a:srgbClr val="BE4A4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BE4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Carenza di </a:t>
            </a:r>
            <a:r>
              <a:rPr lang="en-US" dirty="0" err="1"/>
              <a:t>Trasparenza</a:t>
            </a:r>
            <a:endParaRPr lang="en-US" dirty="0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F13CBDD5-B66F-1A60-8C68-C0E6613F8015}"/>
              </a:ext>
            </a:extLst>
          </p:cNvPr>
          <p:cNvSpPr/>
          <p:nvPr/>
        </p:nvSpPr>
        <p:spPr>
          <a:xfrm>
            <a:off x="6419889" y="3624258"/>
            <a:ext cx="2010156" cy="610636"/>
          </a:xfrm>
          <a:prstGeom prst="roundRect">
            <a:avLst/>
          </a:prstGeom>
          <a:gradFill flip="none" rotWithShape="1">
            <a:gsLst>
              <a:gs pos="0">
                <a:srgbClr val="BE4A4A">
                  <a:shade val="30000"/>
                  <a:satMod val="115000"/>
                </a:srgbClr>
              </a:gs>
              <a:gs pos="50000">
                <a:srgbClr val="BE4A4A">
                  <a:shade val="67500"/>
                  <a:satMod val="115000"/>
                </a:srgbClr>
              </a:gs>
              <a:gs pos="100000">
                <a:srgbClr val="BE4A4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BE4A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Carenza di </a:t>
            </a:r>
            <a:r>
              <a:rPr lang="en-US" dirty="0" err="1"/>
              <a:t>Interpretabilità</a:t>
            </a:r>
            <a:endParaRPr lang="en-US" dirty="0"/>
          </a:p>
        </p:txBody>
      </p:sp>
      <p:pic>
        <p:nvPicPr>
          <p:cNvPr id="4106" name="Picture 10" descr="Attention symbol Images - Free Download on Freepik">
            <a:extLst>
              <a:ext uri="{FF2B5EF4-FFF2-40B4-BE49-F238E27FC236}">
                <a16:creationId xmlns:a16="http://schemas.microsoft.com/office/drawing/2014/main" id="{FEE2DEB5-11AA-C0E2-0250-D20206F917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t="4097" b="4097"/>
          <a:stretch/>
        </p:blipFill>
        <p:spPr bwMode="auto">
          <a:xfrm>
            <a:off x="7955237" y="2780442"/>
            <a:ext cx="474807" cy="43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Attention symbol Images - Free Download on Freepik">
            <a:extLst>
              <a:ext uri="{FF2B5EF4-FFF2-40B4-BE49-F238E27FC236}">
                <a16:creationId xmlns:a16="http://schemas.microsoft.com/office/drawing/2014/main" id="{6819A88B-E836-E7AA-6BAB-8BAEE803F1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/>
          <a:srcRect t="4097" b="4097"/>
          <a:stretch/>
        </p:blipFill>
        <p:spPr bwMode="auto">
          <a:xfrm>
            <a:off x="7955238" y="3711626"/>
            <a:ext cx="474807" cy="43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5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Il pericolo della Black Box 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3150108"/>
            <a:ext cx="29260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it-IT" sz="1200" b="1" dirty="0"/>
              <a:t>L'IA agisce, ma secondo quale logica?</a:t>
            </a:r>
          </a:p>
          <a:p>
            <a:pPr algn="ctr">
              <a:lnSpc>
                <a:spcPct val="130000"/>
              </a:lnSpc>
            </a:pPr>
            <a:r>
              <a:rPr lang="it-IT" sz="1200" b="1" dirty="0"/>
              <a:t>Quali fonti ha consultato per decidere?</a:t>
            </a:r>
          </a:p>
          <a:p>
            <a:pPr algn="ctr">
              <a:lnSpc>
                <a:spcPct val="130000"/>
              </a:lnSpc>
            </a:pPr>
            <a:r>
              <a:rPr lang="it-IT" sz="1200" b="1" dirty="0"/>
              <a:t>In caso di errore, non esiste un "</a:t>
            </a:r>
            <a:r>
              <a:rPr lang="it-IT" sz="1200" b="1" dirty="0" err="1"/>
              <a:t>if</a:t>
            </a:r>
            <a:r>
              <a:rPr lang="it-IT" sz="1200" b="1" dirty="0"/>
              <a:t>" da correggere.</a:t>
            </a:r>
          </a:p>
          <a:p>
            <a:pPr algn="ctr">
              <a:lnSpc>
                <a:spcPct val="130000"/>
              </a:lnSpc>
            </a:pPr>
            <a:r>
              <a:rPr lang="it-IT" sz="1200" b="1" dirty="0"/>
              <a:t>Come stabilisce quando fermarsi o fin dove può spingersi?</a:t>
            </a:r>
            <a:endParaRPr lang="en-US" sz="1200" b="1" dirty="0"/>
          </a:p>
        </p:txBody>
      </p:sp>
      <p:sp>
        <p:nvSpPr>
          <p:cNvPr id="11" name="Shape 9"/>
          <p:cNvSpPr/>
          <p:nvPr/>
        </p:nvSpPr>
        <p:spPr>
          <a:xfrm>
            <a:off x="3611880" y="1207008"/>
            <a:ext cx="5321808" cy="804672"/>
          </a:xfrm>
          <a:prstGeom prst="rect">
            <a:avLst/>
          </a:prstGeom>
          <a:solidFill>
            <a:srgbClr val="FDDED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1207008"/>
            <a:ext cx="73152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94760" y="131673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61688" y="12984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Difficoltà di Audit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572768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744"/>
                </a:solidFill>
              </a:rPr>
              <a:t>Difficile tracciare quali dati ha consultato e quale logica ha applicato per arrivare alla decisione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11880" y="3895344"/>
            <a:ext cx="5321808" cy="804672"/>
          </a:xfrm>
          <a:prstGeom prst="rect">
            <a:avLst/>
          </a:prstGeom>
          <a:solidFill>
            <a:srgbClr val="D4F0E0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3895344"/>
            <a:ext cx="73152" cy="804672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94760" y="40050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61688" y="39867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5B"/>
                </a:solidFill>
              </a:rPr>
              <a:t>La soluzione: I </a:t>
            </a:r>
            <a:r>
              <a:rPr lang="en-US" sz="1200" b="1" dirty="0" err="1">
                <a:solidFill>
                  <a:srgbClr val="2E9E5B"/>
                </a:solidFill>
              </a:rPr>
              <a:t>worflow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7784" y="4242816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it-IT" sz="950" dirty="0">
                <a:solidFill>
                  <a:srgbClr val="1A2744"/>
                </a:solidFill>
              </a:rPr>
              <a:t>Ogni nodo del workflow è visibile, ispezionabile e </a:t>
            </a:r>
            <a:r>
              <a:rPr lang="it-IT" sz="950" dirty="0" err="1">
                <a:solidFill>
                  <a:srgbClr val="1A2744"/>
                </a:solidFill>
              </a:rPr>
              <a:t>auditabile</a:t>
            </a:r>
            <a:r>
              <a:rPr lang="it-IT" sz="950" dirty="0">
                <a:solidFill>
                  <a:srgbClr val="1A2744"/>
                </a:solidFill>
              </a:rPr>
              <a:t> con log completi. Si evita la black box</a:t>
            </a:r>
            <a:endParaRPr lang="en-US" sz="950" dirty="0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0CA58AC-22C0-EE4A-8A20-73B3F843E0A4}"/>
              </a:ext>
            </a:extLst>
          </p:cNvPr>
          <p:cNvSpPr/>
          <p:nvPr/>
        </p:nvSpPr>
        <p:spPr>
          <a:xfrm>
            <a:off x="411480" y="256032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3 · La VISIONE AI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6146" name="Picture 2" descr="Understanding the Mechanisms Behind Black Box AI">
            <a:extLst>
              <a:ext uri="{FF2B5EF4-FFF2-40B4-BE49-F238E27FC236}">
                <a16:creationId xmlns:a16="http://schemas.microsoft.com/office/drawing/2014/main" id="{EAA7698B-10B2-05EC-2AC4-50E985D64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61159" y="1206435"/>
            <a:ext cx="3334897" cy="187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hape 9">
            <a:extLst>
              <a:ext uri="{FF2B5EF4-FFF2-40B4-BE49-F238E27FC236}">
                <a16:creationId xmlns:a16="http://schemas.microsoft.com/office/drawing/2014/main" id="{0C4B3819-AFF6-08D4-5590-5DEA33990AE5}"/>
              </a:ext>
            </a:extLst>
          </p:cNvPr>
          <p:cNvSpPr/>
          <p:nvPr/>
        </p:nvSpPr>
        <p:spPr>
          <a:xfrm>
            <a:off x="3611880" y="2103120"/>
            <a:ext cx="5321808" cy="804672"/>
          </a:xfrm>
          <a:prstGeom prst="rect">
            <a:avLst/>
          </a:prstGeom>
          <a:solidFill>
            <a:srgbClr val="FDDED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11880" y="2103120"/>
            <a:ext cx="73152" cy="804672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67784" y="21762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000"/>
                </a:solidFill>
              </a:rPr>
              <a:t>Difficile </a:t>
            </a:r>
            <a:r>
              <a:rPr lang="en-US" sz="1200" b="1" dirty="0" err="1">
                <a:solidFill>
                  <a:srgbClr val="C05000"/>
                </a:solidFill>
              </a:rPr>
              <a:t>valutare</a:t>
            </a:r>
            <a:r>
              <a:rPr lang="en-US" sz="1200" b="1" dirty="0">
                <a:solidFill>
                  <a:srgbClr val="C05000"/>
                </a:solidFill>
              </a:rPr>
              <a:t> la compliance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67784" y="2450592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744"/>
                </a:solidFill>
              </a:rPr>
              <a:t>Le normative IT richiedono tracciabilità completa di ogni azione automatizzata su sistemi produzione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94760" y="22128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71148C10-B52C-AC32-F7BF-BD239FC55583}"/>
              </a:ext>
            </a:extLst>
          </p:cNvPr>
          <p:cNvSpPr/>
          <p:nvPr/>
        </p:nvSpPr>
        <p:spPr>
          <a:xfrm>
            <a:off x="3611880" y="2994660"/>
            <a:ext cx="5321808" cy="804672"/>
          </a:xfrm>
          <a:prstGeom prst="rect">
            <a:avLst/>
          </a:prstGeom>
          <a:solidFill>
            <a:srgbClr val="FDDED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1E228FE0-20E5-B5C8-BD8D-2BD9BD7E93E1}"/>
              </a:ext>
            </a:extLst>
          </p:cNvPr>
          <p:cNvSpPr/>
          <p:nvPr/>
        </p:nvSpPr>
        <p:spPr>
          <a:xfrm>
            <a:off x="3611880" y="2994660"/>
            <a:ext cx="73152" cy="804672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986AFA4C-F74C-CA0C-B875-31842A148348}"/>
              </a:ext>
            </a:extLst>
          </p:cNvPr>
          <p:cNvSpPr/>
          <p:nvPr/>
        </p:nvSpPr>
        <p:spPr>
          <a:xfrm>
            <a:off x="4367784" y="30678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C05000"/>
                </a:solidFill>
              </a:rPr>
              <a:t>Errori</a:t>
            </a:r>
            <a:r>
              <a:rPr lang="en-US" sz="1200" b="1" dirty="0">
                <a:solidFill>
                  <a:srgbClr val="C05000"/>
                </a:solidFill>
              </a:rPr>
              <a:t> a </a:t>
            </a:r>
            <a:r>
              <a:rPr lang="en-US" sz="1200" b="1" dirty="0" err="1">
                <a:solidFill>
                  <a:srgbClr val="C05000"/>
                </a:solidFill>
              </a:rPr>
              <a:t>cascata</a:t>
            </a:r>
            <a:endParaRPr lang="en-US" sz="1200" b="1" dirty="0">
              <a:solidFill>
                <a:srgbClr val="C05000"/>
              </a:solidFill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E09F59FC-55F4-2C89-8AAE-AE87C633C659}"/>
              </a:ext>
            </a:extLst>
          </p:cNvPr>
          <p:cNvSpPr/>
          <p:nvPr/>
        </p:nvSpPr>
        <p:spPr>
          <a:xfrm>
            <a:off x="4361688" y="3310128"/>
            <a:ext cx="4425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it-IT" sz="950" dirty="0">
                <a:solidFill>
                  <a:srgbClr val="1A2744"/>
                </a:solidFill>
              </a:rPr>
              <a:t>Un'azione AI non comprensibile in produzione può innescare escalation non controllabili</a:t>
            </a: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5DF0F2DB-D01A-C0C4-7052-E03D89B3A29D}"/>
              </a:ext>
            </a:extLst>
          </p:cNvPr>
          <p:cNvSpPr/>
          <p:nvPr/>
        </p:nvSpPr>
        <p:spPr>
          <a:xfrm>
            <a:off x="3794760" y="31043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🌀</a:t>
            </a:r>
            <a:endParaRPr lang="en-US" sz="2000" dirty="0"/>
          </a:p>
        </p:txBody>
      </p:sp>
      <p:pic>
        <p:nvPicPr>
          <p:cNvPr id="3" name="Picture 10" descr="Audit - Free business and finance icons">
            <a:extLst>
              <a:ext uri="{FF2B5EF4-FFF2-40B4-BE49-F238E27FC236}">
                <a16:creationId xmlns:a16="http://schemas.microsoft.com/office/drawing/2014/main" id="{B8B6B4B5-A57B-73DA-BAA4-37E079755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624" y="1426464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4" descr="Checkmark Icon Green Check Mark Icon」のベクター画像素材（ロイヤリティフリー） 1156097725 |  Shutterstock">
            <a:extLst>
              <a:ext uri="{FF2B5EF4-FFF2-40B4-BE49-F238E27FC236}">
                <a16:creationId xmlns:a16="http://schemas.microsoft.com/office/drawing/2014/main" id="{3AB04745-2F62-A86F-DD95-ABCED8DC57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5612" t="2644" r="9367" b="24196"/>
          <a:stretch>
            <a:fillRect/>
          </a:stretch>
        </p:blipFill>
        <p:spPr bwMode="auto">
          <a:xfrm>
            <a:off x="3794760" y="4031523"/>
            <a:ext cx="470786" cy="49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B466C-C543-B38B-DFF0-7546AF494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BB7E30-27B2-459C-C6A4-758E5EE4ACC4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C3EE5C-666C-DB89-4769-B116B3F8D6B7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FCD7CF3-1811-738E-D6D7-7FCA3651B4BC}"/>
              </a:ext>
            </a:extLst>
          </p:cNvPr>
          <p:cNvSpPr/>
          <p:nvPr/>
        </p:nvSpPr>
        <p:spPr>
          <a:xfrm>
            <a:off x="411480" y="256032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3 · La VISIONE AI</a:t>
            </a:r>
            <a:endParaRPr lang="en-US" sz="1100" dirty="0">
              <a:solidFill>
                <a:srgbClr val="66CCFF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22954DE-81E7-2F8E-0BD3-A75C174167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5767" t="13324" r="3256" b="18008"/>
          <a:stretch>
            <a:fillRect/>
          </a:stretch>
        </p:blipFill>
        <p:spPr bwMode="auto">
          <a:xfrm>
            <a:off x="411480" y="1313828"/>
            <a:ext cx="2018212" cy="60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623381-B620-721F-9E2D-AE851B5B7962}"/>
              </a:ext>
            </a:extLst>
          </p:cNvPr>
          <p:cNvSpPr txBox="1"/>
          <p:nvPr/>
        </p:nvSpPr>
        <p:spPr>
          <a:xfrm>
            <a:off x="2612571" y="1227909"/>
            <a:ext cx="6198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n8n è un potente strumento per il </a:t>
            </a:r>
            <a:r>
              <a:rPr lang="it-IT" b="1" dirty="0"/>
              <a:t>workflow </a:t>
            </a:r>
            <a:r>
              <a:rPr lang="it-IT" b="1" dirty="0" err="1"/>
              <a:t>automation</a:t>
            </a:r>
            <a:r>
              <a:rPr lang="it-IT" dirty="0"/>
              <a:t> "</a:t>
            </a:r>
            <a:r>
              <a:rPr lang="it-IT" b="1" dirty="0"/>
              <a:t>fair-code</a:t>
            </a:r>
            <a:r>
              <a:rPr lang="it-IT" dirty="0"/>
              <a:t>" che permette di connettere sistemi diversi e automatizzare processi complessi attraverso un'interfaccia visiva a </a:t>
            </a:r>
            <a:r>
              <a:rPr lang="it-IT" b="1" dirty="0"/>
              <a:t>nodi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35E98DC-20DF-A402-8D4F-88FE9BB94A22}"/>
              </a:ext>
            </a:extLst>
          </p:cNvPr>
          <p:cNvSpPr txBox="1"/>
          <p:nvPr/>
        </p:nvSpPr>
        <p:spPr>
          <a:xfrm>
            <a:off x="893172" y="2715263"/>
            <a:ext cx="73576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Progetto </a:t>
            </a:r>
            <a:r>
              <a:rPr lang="en-US" dirty="0" err="1"/>
              <a:t>nato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b="1" dirty="0"/>
              <a:t>2019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garantisc</a:t>
            </a:r>
            <a:r>
              <a:rPr lang="en-US" dirty="0"/>
              <a:t> il 100% di Ownership (</a:t>
            </a:r>
            <a:r>
              <a:rPr lang="en-US" b="1" dirty="0"/>
              <a:t>self-hosted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+ 177 k        </a:t>
            </a:r>
            <a:r>
              <a:rPr lang="en-US" dirty="0"/>
              <a:t>+ 55,4 k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+ 400 </a:t>
            </a:r>
            <a:r>
              <a:rPr lang="en-US" dirty="0" err="1"/>
              <a:t>Integrazioni</a:t>
            </a:r>
            <a:r>
              <a:rPr lang="en-US" dirty="0"/>
              <a:t> Native  </a:t>
            </a:r>
            <a:r>
              <a:rPr lang="en-US" b="1" dirty="0"/>
              <a:t>+80 k </a:t>
            </a:r>
            <a:r>
              <a:rPr lang="en-US" dirty="0" err="1"/>
              <a:t>Membri</a:t>
            </a:r>
            <a:r>
              <a:rPr lang="en-US" dirty="0"/>
              <a:t> della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Milioni</a:t>
            </a:r>
            <a:r>
              <a:rPr lang="en-US" dirty="0"/>
              <a:t> di </a:t>
            </a:r>
            <a:r>
              <a:rPr lang="en-US" dirty="0" err="1"/>
              <a:t>Worflow</a:t>
            </a:r>
            <a:r>
              <a:rPr lang="en-US" dirty="0"/>
              <a:t> </a:t>
            </a:r>
            <a:r>
              <a:rPr lang="en-US" dirty="0" err="1"/>
              <a:t>Eseguiti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Il </a:t>
            </a:r>
            <a:r>
              <a:rPr lang="en-US" dirty="0" err="1"/>
              <a:t>tutto</a:t>
            </a:r>
            <a:r>
              <a:rPr lang="en-US" dirty="0"/>
              <a:t> in un </a:t>
            </a:r>
            <a:r>
              <a:rPr lang="en-US" dirty="0" err="1"/>
              <a:t>interfaccia</a:t>
            </a:r>
            <a:r>
              <a:rPr lang="en-US" dirty="0"/>
              <a:t> </a:t>
            </a:r>
            <a:r>
              <a:rPr lang="en-US" dirty="0" err="1"/>
              <a:t>visiva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supporta</a:t>
            </a:r>
            <a:r>
              <a:rPr lang="en-US" dirty="0"/>
              <a:t> </a:t>
            </a:r>
            <a:r>
              <a:rPr lang="en-US" dirty="0" err="1"/>
              <a:t>nativamente</a:t>
            </a:r>
            <a:r>
              <a:rPr lang="en-US" dirty="0"/>
              <a:t> </a:t>
            </a:r>
            <a:r>
              <a:rPr lang="en-US" b="1" dirty="0" err="1"/>
              <a:t>Javascript</a:t>
            </a:r>
            <a:endParaRPr lang="en-US" b="1" dirty="0"/>
          </a:p>
        </p:txBody>
      </p:sp>
      <p:pic>
        <p:nvPicPr>
          <p:cNvPr id="8" name="Immagine 7" descr="GitHub Stars Feed | Get the latest feed of GitHub Stars out there! 🌟 ⭐ ✨">
            <a:extLst>
              <a:ext uri="{FF2B5EF4-FFF2-40B4-BE49-F238E27FC236}">
                <a16:creationId xmlns:a16="http://schemas.microsoft.com/office/drawing/2014/main" id="{57CD9EA0-5C66-9DA2-6491-DCCF0520E0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46809" y="3068480"/>
            <a:ext cx="217052" cy="217052"/>
          </a:xfrm>
          <a:prstGeom prst="rect">
            <a:avLst/>
          </a:prstGeom>
        </p:spPr>
      </p:pic>
      <p:pic>
        <p:nvPicPr>
          <p:cNvPr id="9" name="Picture 6" descr="Icon Request: Github Fork icon · Issue #14803 · FortAwesome/Font-Awesome">
            <a:extLst>
              <a:ext uri="{FF2B5EF4-FFF2-40B4-BE49-F238E27FC236}">
                <a16:creationId xmlns:a16="http://schemas.microsoft.com/office/drawing/2014/main" id="{93D733AB-2B93-38B0-68A6-364031BFF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3233073" y="3055249"/>
            <a:ext cx="151767" cy="24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7C689E88-54F4-8F1E-40F3-5FA001F5B62A}"/>
              </a:ext>
            </a:extLst>
          </p:cNvPr>
          <p:cNvSpPr/>
          <p:nvPr/>
        </p:nvSpPr>
        <p:spPr>
          <a:xfrm>
            <a:off x="411480" y="4937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 workflow con n8n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13910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B0F4A-BAE6-7E82-F47B-3DA67145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754F29-BEE1-E4AD-55A7-D21037537637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3FA0EE7-57C5-41FB-1F49-E53C43534D52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0F76F248-0F30-10A4-1A80-9471DD9B2D55}"/>
              </a:ext>
            </a:extLst>
          </p:cNvPr>
          <p:cNvSpPr/>
          <p:nvPr/>
        </p:nvSpPr>
        <p:spPr>
          <a:xfrm>
            <a:off x="411480" y="256032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3 · La VISIONE AI</a:t>
            </a:r>
            <a:endParaRPr lang="en-US" sz="1100" dirty="0">
              <a:solidFill>
                <a:srgbClr val="66CCFF"/>
              </a:solidFill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7DA94FE2-3EA7-99C8-030D-17E2FBA6389B}"/>
              </a:ext>
            </a:extLst>
          </p:cNvPr>
          <p:cNvSpPr/>
          <p:nvPr/>
        </p:nvSpPr>
        <p:spPr>
          <a:xfrm>
            <a:off x="411480" y="4937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n8n</a:t>
            </a:r>
            <a:endParaRPr lang="en-US" sz="2200" dirty="0"/>
          </a:p>
        </p:txBody>
      </p:sp>
      <p:pic>
        <p:nvPicPr>
          <p:cNvPr id="2052" name="Picture 4" descr="&quot;Screenshot of the completed workflow&quot;">
            <a:extLst>
              <a:ext uri="{FF2B5EF4-FFF2-40B4-BE49-F238E27FC236}">
                <a16:creationId xmlns:a16="http://schemas.microsoft.com/office/drawing/2014/main" id="{F4016CDA-E0C7-A76E-6B76-0861FEB0D5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8" t="17577" r="15674" b="11072"/>
          <a:stretch>
            <a:fillRect/>
          </a:stretch>
        </p:blipFill>
        <p:spPr bwMode="auto">
          <a:xfrm>
            <a:off x="731785" y="1830106"/>
            <a:ext cx="3025411" cy="190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27">
            <a:extLst>
              <a:ext uri="{FF2B5EF4-FFF2-40B4-BE49-F238E27FC236}">
                <a16:creationId xmlns:a16="http://schemas.microsoft.com/office/drawing/2014/main" id="{C0CB3E95-084B-333A-1D11-EFDA54BE6BF7}"/>
              </a:ext>
            </a:extLst>
          </p:cNvPr>
          <p:cNvSpPr/>
          <p:nvPr/>
        </p:nvSpPr>
        <p:spPr>
          <a:xfrm>
            <a:off x="4434840" y="2016905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8">
            <a:extLst>
              <a:ext uri="{FF2B5EF4-FFF2-40B4-BE49-F238E27FC236}">
                <a16:creationId xmlns:a16="http://schemas.microsoft.com/office/drawing/2014/main" id="{01A390F2-9765-CBFA-56BF-546E540C4DBA}"/>
              </a:ext>
            </a:extLst>
          </p:cNvPr>
          <p:cNvSpPr/>
          <p:nvPr/>
        </p:nvSpPr>
        <p:spPr>
          <a:xfrm>
            <a:off x="4434840" y="2016905"/>
            <a:ext cx="73152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29">
            <a:extLst>
              <a:ext uri="{FF2B5EF4-FFF2-40B4-BE49-F238E27FC236}">
                <a16:creationId xmlns:a16="http://schemas.microsoft.com/office/drawing/2014/main" id="{819B4228-C406-46D0-9B97-9FDA17EF0788}"/>
              </a:ext>
            </a:extLst>
          </p:cNvPr>
          <p:cNvSpPr/>
          <p:nvPr/>
        </p:nvSpPr>
        <p:spPr>
          <a:xfrm>
            <a:off x="4544568" y="2071769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30">
            <a:extLst>
              <a:ext uri="{FF2B5EF4-FFF2-40B4-BE49-F238E27FC236}">
                <a16:creationId xmlns:a16="http://schemas.microsoft.com/office/drawing/2014/main" id="{A60E39F2-7AC3-0332-D277-9F10C26D0A8E}"/>
              </a:ext>
            </a:extLst>
          </p:cNvPr>
          <p:cNvSpPr/>
          <p:nvPr/>
        </p:nvSpPr>
        <p:spPr>
          <a:xfrm>
            <a:off x="5014440" y="2080913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744"/>
                </a:solidFill>
              </a:rPr>
              <a:t>Visibilità</a:t>
            </a:r>
            <a:endParaRPr lang="en-US" sz="1100" dirty="0"/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63C3E5F7-89EA-0859-3042-3E4A5AC2569C}"/>
              </a:ext>
            </a:extLst>
          </p:cNvPr>
          <p:cNvSpPr/>
          <p:nvPr/>
        </p:nvSpPr>
        <p:spPr>
          <a:xfrm>
            <a:off x="4983480" y="2272937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A0"/>
                </a:solidFill>
              </a:rPr>
              <a:t>Ogni chiamata API e trasformazione dati è ispezionabile nel grafo</a:t>
            </a:r>
            <a:endParaRPr lang="en-US" sz="950" dirty="0"/>
          </a:p>
        </p:txBody>
      </p:sp>
      <p:sp>
        <p:nvSpPr>
          <p:cNvPr id="13" name="Shape 32">
            <a:extLst>
              <a:ext uri="{FF2B5EF4-FFF2-40B4-BE49-F238E27FC236}">
                <a16:creationId xmlns:a16="http://schemas.microsoft.com/office/drawing/2014/main" id="{4155A354-BA67-D9DB-CF42-83A44FB682B8}"/>
              </a:ext>
            </a:extLst>
          </p:cNvPr>
          <p:cNvSpPr/>
          <p:nvPr/>
        </p:nvSpPr>
        <p:spPr>
          <a:xfrm>
            <a:off x="4434840" y="2730137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33">
            <a:extLst>
              <a:ext uri="{FF2B5EF4-FFF2-40B4-BE49-F238E27FC236}">
                <a16:creationId xmlns:a16="http://schemas.microsoft.com/office/drawing/2014/main" id="{74BB0FAF-6470-5A12-7E5D-3CD7C81F6C33}"/>
              </a:ext>
            </a:extLst>
          </p:cNvPr>
          <p:cNvSpPr/>
          <p:nvPr/>
        </p:nvSpPr>
        <p:spPr>
          <a:xfrm>
            <a:off x="4434840" y="2730137"/>
            <a:ext cx="73152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34">
            <a:extLst>
              <a:ext uri="{FF2B5EF4-FFF2-40B4-BE49-F238E27FC236}">
                <a16:creationId xmlns:a16="http://schemas.microsoft.com/office/drawing/2014/main" id="{2A6B2D52-CED1-6FD5-9913-72321EC2942C}"/>
              </a:ext>
            </a:extLst>
          </p:cNvPr>
          <p:cNvSpPr/>
          <p:nvPr/>
        </p:nvSpPr>
        <p:spPr>
          <a:xfrm>
            <a:off x="4544568" y="2785001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Text 35">
            <a:extLst>
              <a:ext uri="{FF2B5EF4-FFF2-40B4-BE49-F238E27FC236}">
                <a16:creationId xmlns:a16="http://schemas.microsoft.com/office/drawing/2014/main" id="{43B42AC8-1DD9-4CDF-0991-E5CB66CB8782}"/>
              </a:ext>
            </a:extLst>
          </p:cNvPr>
          <p:cNvSpPr/>
          <p:nvPr/>
        </p:nvSpPr>
        <p:spPr>
          <a:xfrm>
            <a:off x="4983480" y="2812433"/>
            <a:ext cx="2854234" cy="201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Audit </a:t>
            </a:r>
            <a:r>
              <a:rPr lang="en-US" sz="1100" b="1" dirty="0" err="1">
                <a:solidFill>
                  <a:srgbClr val="1A2744"/>
                </a:solidFill>
              </a:rPr>
              <a:t>attivo</a:t>
            </a:r>
            <a:endParaRPr lang="en-US" sz="1100" dirty="0"/>
          </a:p>
        </p:txBody>
      </p:sp>
      <p:sp>
        <p:nvSpPr>
          <p:cNvPr id="17" name="Text 36">
            <a:extLst>
              <a:ext uri="{FF2B5EF4-FFF2-40B4-BE49-F238E27FC236}">
                <a16:creationId xmlns:a16="http://schemas.microsoft.com/office/drawing/2014/main" id="{3120C897-D534-9E00-B844-0A149781A301}"/>
              </a:ext>
            </a:extLst>
          </p:cNvPr>
          <p:cNvSpPr/>
          <p:nvPr/>
        </p:nvSpPr>
        <p:spPr>
          <a:xfrm>
            <a:off x="4983480" y="2986169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A0"/>
                </a:solidFill>
              </a:rPr>
              <a:t>Ogni esecuzione registrata con timestamp, input/output completi</a:t>
            </a:r>
            <a:endParaRPr lang="en-US" sz="950" dirty="0"/>
          </a:p>
        </p:txBody>
      </p:sp>
      <p:sp>
        <p:nvSpPr>
          <p:cNvPr id="18" name="Shape 37">
            <a:extLst>
              <a:ext uri="{FF2B5EF4-FFF2-40B4-BE49-F238E27FC236}">
                <a16:creationId xmlns:a16="http://schemas.microsoft.com/office/drawing/2014/main" id="{7EB5A08B-35FB-7165-4973-A9E539062BB1}"/>
              </a:ext>
            </a:extLst>
          </p:cNvPr>
          <p:cNvSpPr/>
          <p:nvPr/>
        </p:nvSpPr>
        <p:spPr>
          <a:xfrm>
            <a:off x="4434840" y="3443369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8">
            <a:extLst>
              <a:ext uri="{FF2B5EF4-FFF2-40B4-BE49-F238E27FC236}">
                <a16:creationId xmlns:a16="http://schemas.microsoft.com/office/drawing/2014/main" id="{C88C19E6-4B56-152A-8837-DD8E75954616}"/>
              </a:ext>
            </a:extLst>
          </p:cNvPr>
          <p:cNvSpPr/>
          <p:nvPr/>
        </p:nvSpPr>
        <p:spPr>
          <a:xfrm>
            <a:off x="4434840" y="3443369"/>
            <a:ext cx="73152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39">
            <a:extLst>
              <a:ext uri="{FF2B5EF4-FFF2-40B4-BE49-F238E27FC236}">
                <a16:creationId xmlns:a16="http://schemas.microsoft.com/office/drawing/2014/main" id="{47A1B5AF-87CD-3435-30BB-E5CFA039C807}"/>
              </a:ext>
            </a:extLst>
          </p:cNvPr>
          <p:cNvSpPr/>
          <p:nvPr/>
        </p:nvSpPr>
        <p:spPr>
          <a:xfrm>
            <a:off x="4544568" y="3498233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 40">
            <a:extLst>
              <a:ext uri="{FF2B5EF4-FFF2-40B4-BE49-F238E27FC236}">
                <a16:creationId xmlns:a16="http://schemas.microsoft.com/office/drawing/2014/main" id="{DED54DC9-9FA0-13B2-B57E-F1759586DBE7}"/>
              </a:ext>
            </a:extLst>
          </p:cNvPr>
          <p:cNvSpPr/>
          <p:nvPr/>
        </p:nvSpPr>
        <p:spPr>
          <a:xfrm>
            <a:off x="4983480" y="3461657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Human in the loop</a:t>
            </a:r>
            <a:endParaRPr lang="en-US" sz="1100" dirty="0"/>
          </a:p>
        </p:txBody>
      </p:sp>
      <p:sp>
        <p:nvSpPr>
          <p:cNvPr id="23" name="Text 41">
            <a:extLst>
              <a:ext uri="{FF2B5EF4-FFF2-40B4-BE49-F238E27FC236}">
                <a16:creationId xmlns:a16="http://schemas.microsoft.com/office/drawing/2014/main" id="{ECD5F944-2789-B7AA-DFFF-F3ACE2819F3C}"/>
              </a:ext>
            </a:extLst>
          </p:cNvPr>
          <p:cNvSpPr/>
          <p:nvPr/>
        </p:nvSpPr>
        <p:spPr>
          <a:xfrm>
            <a:off x="4983480" y="3699401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B7EA0"/>
                </a:solidFill>
              </a:rPr>
              <a:t>L'operatore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può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essere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inserito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nel</a:t>
            </a:r>
            <a:r>
              <a:rPr lang="en-US" sz="950" dirty="0">
                <a:solidFill>
                  <a:srgbClr val="6B7EA0"/>
                </a:solidFill>
              </a:rPr>
              <a:t> workflow per </a:t>
            </a:r>
            <a:r>
              <a:rPr lang="en-US" sz="950" dirty="0" err="1">
                <a:solidFill>
                  <a:srgbClr val="6B7EA0"/>
                </a:solidFill>
              </a:rPr>
              <a:t>approvazioni</a:t>
            </a:r>
            <a:r>
              <a:rPr lang="en-US" sz="950" dirty="0">
                <a:solidFill>
                  <a:srgbClr val="6B7EA0"/>
                </a:solidFill>
              </a:rPr>
              <a:t> di </a:t>
            </a:r>
            <a:r>
              <a:rPr lang="en-US" sz="950" dirty="0" err="1">
                <a:solidFill>
                  <a:srgbClr val="6B7EA0"/>
                </a:solidFill>
              </a:rPr>
              <a:t>azioni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critiche</a:t>
            </a:r>
            <a:endParaRPr lang="en-US" sz="950" dirty="0"/>
          </a:p>
        </p:txBody>
      </p:sp>
      <p:sp>
        <p:nvSpPr>
          <p:cNvPr id="24" name="Shape 42">
            <a:extLst>
              <a:ext uri="{FF2B5EF4-FFF2-40B4-BE49-F238E27FC236}">
                <a16:creationId xmlns:a16="http://schemas.microsoft.com/office/drawing/2014/main" id="{69FD1089-F829-184E-D1CC-F399AAA399EB}"/>
              </a:ext>
            </a:extLst>
          </p:cNvPr>
          <p:cNvSpPr/>
          <p:nvPr/>
        </p:nvSpPr>
        <p:spPr>
          <a:xfrm>
            <a:off x="4434840" y="1306286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43">
            <a:extLst>
              <a:ext uri="{FF2B5EF4-FFF2-40B4-BE49-F238E27FC236}">
                <a16:creationId xmlns:a16="http://schemas.microsoft.com/office/drawing/2014/main" id="{E9E1C1E6-A6E2-B6F2-CF18-FB2A9D513E5A}"/>
              </a:ext>
            </a:extLst>
          </p:cNvPr>
          <p:cNvSpPr/>
          <p:nvPr/>
        </p:nvSpPr>
        <p:spPr>
          <a:xfrm>
            <a:off x="4434840" y="1306286"/>
            <a:ext cx="73152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44">
            <a:extLst>
              <a:ext uri="{FF2B5EF4-FFF2-40B4-BE49-F238E27FC236}">
                <a16:creationId xmlns:a16="http://schemas.microsoft.com/office/drawing/2014/main" id="{051A9765-D53A-653C-F15C-BE0A61A44791}"/>
              </a:ext>
            </a:extLst>
          </p:cNvPr>
          <p:cNvSpPr/>
          <p:nvPr/>
        </p:nvSpPr>
        <p:spPr>
          <a:xfrm>
            <a:off x="4544568" y="1361150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45">
            <a:extLst>
              <a:ext uri="{FF2B5EF4-FFF2-40B4-BE49-F238E27FC236}">
                <a16:creationId xmlns:a16="http://schemas.microsoft.com/office/drawing/2014/main" id="{58B82DC9-D469-1DBC-8769-3CBFA7B9D3D2}"/>
              </a:ext>
            </a:extLst>
          </p:cNvPr>
          <p:cNvSpPr/>
          <p:nvPr/>
        </p:nvSpPr>
        <p:spPr>
          <a:xfrm>
            <a:off x="4983480" y="1324574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I trigger</a:t>
            </a:r>
            <a:endParaRPr lang="en-US" sz="1100" dirty="0"/>
          </a:p>
        </p:txBody>
      </p:sp>
      <p:sp>
        <p:nvSpPr>
          <p:cNvPr id="28" name="Text 46">
            <a:extLst>
              <a:ext uri="{FF2B5EF4-FFF2-40B4-BE49-F238E27FC236}">
                <a16:creationId xmlns:a16="http://schemas.microsoft.com/office/drawing/2014/main" id="{0F893E55-8A82-6410-A592-11912C5D5573}"/>
              </a:ext>
            </a:extLst>
          </p:cNvPr>
          <p:cNvSpPr/>
          <p:nvPr/>
        </p:nvSpPr>
        <p:spPr>
          <a:xfrm>
            <a:off x="4983480" y="1562318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EA0"/>
                </a:solidFill>
              </a:rPr>
              <a:t>Ogni workflow ha </a:t>
            </a:r>
            <a:r>
              <a:rPr lang="en-US" sz="950" dirty="0" err="1">
                <a:solidFill>
                  <a:srgbClr val="6B7EA0"/>
                </a:solidFill>
              </a:rPr>
              <a:t>inizio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tramite</a:t>
            </a:r>
            <a:r>
              <a:rPr lang="en-US" sz="950" dirty="0">
                <a:solidFill>
                  <a:srgbClr val="6B7EA0"/>
                </a:solidFill>
              </a:rPr>
              <a:t> un trigger </a:t>
            </a:r>
            <a:r>
              <a:rPr lang="en-US" sz="950" dirty="0" err="1">
                <a:solidFill>
                  <a:srgbClr val="6B7EA0"/>
                </a:solidFill>
              </a:rPr>
              <a:t>tra</a:t>
            </a:r>
            <a:r>
              <a:rPr lang="en-US" sz="950" dirty="0">
                <a:solidFill>
                  <a:srgbClr val="6B7EA0"/>
                </a:solidFill>
              </a:rPr>
              <a:t> cui: Trigger automatic,  schedules, webhook, alert inbound</a:t>
            </a:r>
            <a:endParaRPr lang="en-US" sz="950" dirty="0"/>
          </a:p>
        </p:txBody>
      </p:sp>
      <p:sp>
        <p:nvSpPr>
          <p:cNvPr id="29" name="Shape 47">
            <a:extLst>
              <a:ext uri="{FF2B5EF4-FFF2-40B4-BE49-F238E27FC236}">
                <a16:creationId xmlns:a16="http://schemas.microsoft.com/office/drawing/2014/main" id="{816AEAB2-A3DA-97AC-A8B1-01FEE29E36B7}"/>
              </a:ext>
            </a:extLst>
          </p:cNvPr>
          <p:cNvSpPr/>
          <p:nvPr/>
        </p:nvSpPr>
        <p:spPr>
          <a:xfrm>
            <a:off x="4434840" y="4142232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48">
            <a:extLst>
              <a:ext uri="{FF2B5EF4-FFF2-40B4-BE49-F238E27FC236}">
                <a16:creationId xmlns:a16="http://schemas.microsoft.com/office/drawing/2014/main" id="{EC55E6B4-1B18-DDFE-0516-D2485ABD8EC4}"/>
              </a:ext>
            </a:extLst>
          </p:cNvPr>
          <p:cNvSpPr/>
          <p:nvPr/>
        </p:nvSpPr>
        <p:spPr>
          <a:xfrm>
            <a:off x="4434840" y="4142232"/>
            <a:ext cx="73152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49">
            <a:extLst>
              <a:ext uri="{FF2B5EF4-FFF2-40B4-BE49-F238E27FC236}">
                <a16:creationId xmlns:a16="http://schemas.microsoft.com/office/drawing/2014/main" id="{B3C43DA9-C793-A3AF-0EF9-99EF75C145A4}"/>
              </a:ext>
            </a:extLst>
          </p:cNvPr>
          <p:cNvSpPr/>
          <p:nvPr/>
        </p:nvSpPr>
        <p:spPr>
          <a:xfrm>
            <a:off x="4544568" y="4197096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50">
            <a:extLst>
              <a:ext uri="{FF2B5EF4-FFF2-40B4-BE49-F238E27FC236}">
                <a16:creationId xmlns:a16="http://schemas.microsoft.com/office/drawing/2014/main" id="{47F138EF-7449-1340-9B64-A612FDFDFDD5}"/>
              </a:ext>
            </a:extLst>
          </p:cNvPr>
          <p:cNvSpPr/>
          <p:nvPr/>
        </p:nvSpPr>
        <p:spPr>
          <a:xfrm>
            <a:off x="4983480" y="4211465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Self-hosted</a:t>
            </a:r>
            <a:endParaRPr lang="en-US" sz="1100" dirty="0"/>
          </a:p>
        </p:txBody>
      </p:sp>
      <p:sp>
        <p:nvSpPr>
          <p:cNvPr id="34" name="Text 51">
            <a:extLst>
              <a:ext uri="{FF2B5EF4-FFF2-40B4-BE49-F238E27FC236}">
                <a16:creationId xmlns:a16="http://schemas.microsoft.com/office/drawing/2014/main" id="{F4F7E339-F84B-32D4-19F7-04AA1E47E53B}"/>
              </a:ext>
            </a:extLst>
          </p:cNvPr>
          <p:cNvSpPr/>
          <p:nvPr/>
        </p:nvSpPr>
        <p:spPr>
          <a:xfrm>
            <a:off x="4983480" y="4398264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A0"/>
                </a:solidFill>
              </a:rPr>
              <a:t>Deployabile on-prem o Cloud</a:t>
            </a:r>
            <a:endParaRPr lang="en-US" sz="950" dirty="0"/>
          </a:p>
        </p:txBody>
      </p:sp>
      <p:sp>
        <p:nvSpPr>
          <p:cNvPr id="35" name="Shape 47">
            <a:extLst>
              <a:ext uri="{FF2B5EF4-FFF2-40B4-BE49-F238E27FC236}">
                <a16:creationId xmlns:a16="http://schemas.microsoft.com/office/drawing/2014/main" id="{32086E0C-44B1-0988-FFBF-ECC854AA9012}"/>
              </a:ext>
            </a:extLst>
          </p:cNvPr>
          <p:cNvSpPr/>
          <p:nvPr/>
        </p:nvSpPr>
        <p:spPr>
          <a:xfrm>
            <a:off x="128016" y="4142232"/>
            <a:ext cx="4251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48">
            <a:extLst>
              <a:ext uri="{FF2B5EF4-FFF2-40B4-BE49-F238E27FC236}">
                <a16:creationId xmlns:a16="http://schemas.microsoft.com/office/drawing/2014/main" id="{E04500D9-0CD1-E925-C7AC-6228B4A2F45F}"/>
              </a:ext>
            </a:extLst>
          </p:cNvPr>
          <p:cNvSpPr/>
          <p:nvPr/>
        </p:nvSpPr>
        <p:spPr>
          <a:xfrm>
            <a:off x="128016" y="4142232"/>
            <a:ext cx="73152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49">
            <a:extLst>
              <a:ext uri="{FF2B5EF4-FFF2-40B4-BE49-F238E27FC236}">
                <a16:creationId xmlns:a16="http://schemas.microsoft.com/office/drawing/2014/main" id="{9DFECF22-C3FA-0B64-E6F0-0F3FDF9E854F}"/>
              </a:ext>
            </a:extLst>
          </p:cNvPr>
          <p:cNvSpPr/>
          <p:nvPr/>
        </p:nvSpPr>
        <p:spPr>
          <a:xfrm>
            <a:off x="237744" y="4197096"/>
            <a:ext cx="3840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38" name="Text 50">
            <a:extLst>
              <a:ext uri="{FF2B5EF4-FFF2-40B4-BE49-F238E27FC236}">
                <a16:creationId xmlns:a16="http://schemas.microsoft.com/office/drawing/2014/main" id="{2622FD4F-EEEE-57AC-737D-27EA1B54427B}"/>
              </a:ext>
            </a:extLst>
          </p:cNvPr>
          <p:cNvSpPr/>
          <p:nvPr/>
        </p:nvSpPr>
        <p:spPr>
          <a:xfrm>
            <a:off x="676656" y="4160520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744"/>
                </a:solidFill>
              </a:rPr>
              <a:t>Personalizzazione</a:t>
            </a:r>
            <a:r>
              <a:rPr lang="en-US" sz="1100" b="1" dirty="0">
                <a:solidFill>
                  <a:srgbClr val="1A2744"/>
                </a:solidFill>
              </a:rPr>
              <a:t> e Debug</a:t>
            </a:r>
            <a:endParaRPr lang="en-US" sz="1100" dirty="0"/>
          </a:p>
        </p:txBody>
      </p:sp>
      <p:sp>
        <p:nvSpPr>
          <p:cNvPr id="39" name="Text 51">
            <a:extLst>
              <a:ext uri="{FF2B5EF4-FFF2-40B4-BE49-F238E27FC236}">
                <a16:creationId xmlns:a16="http://schemas.microsoft.com/office/drawing/2014/main" id="{F8A018A3-1DEC-5F74-84FB-FB24402B18B2}"/>
              </a:ext>
            </a:extLst>
          </p:cNvPr>
          <p:cNvSpPr/>
          <p:nvPr/>
        </p:nvSpPr>
        <p:spPr>
          <a:xfrm>
            <a:off x="676656" y="4398264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950" dirty="0"/>
              <a:t>Ogni nodo è personalizzabile, segmentabile e integrabile con controlli automatici o tramite l’interazione diretta dell'operatore</a:t>
            </a:r>
            <a:endParaRPr lang="en-US" sz="950" dirty="0"/>
          </a:p>
        </p:txBody>
      </p:sp>
      <p:pic>
        <p:nvPicPr>
          <p:cNvPr id="3074" name="Picture 2" descr="Self Hosting">
            <a:extLst>
              <a:ext uri="{FF2B5EF4-FFF2-40B4-BE49-F238E27FC236}">
                <a16:creationId xmlns:a16="http://schemas.microsoft.com/office/drawing/2014/main" id="{9F31AF8E-7C8B-F948-9583-D60458873A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1920" r="11920"/>
          <a:stretch/>
        </p:blipFill>
        <p:spPr bwMode="auto">
          <a:xfrm>
            <a:off x="4352986" y="4187356"/>
            <a:ext cx="785500" cy="58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ow Human-in-the-Loop Systems Enhance AI Accuracy, Fairness, and Trust |  Shaip">
            <a:extLst>
              <a:ext uri="{FF2B5EF4-FFF2-40B4-BE49-F238E27FC236}">
                <a16:creationId xmlns:a16="http://schemas.microsoft.com/office/drawing/2014/main" id="{74063CC3-5A95-133A-79F0-B2491C122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t="17162" b="9978"/>
          <a:stretch>
            <a:fillRect/>
          </a:stretch>
        </p:blipFill>
        <p:spPr bwMode="auto">
          <a:xfrm>
            <a:off x="4520552" y="3606001"/>
            <a:ext cx="432079" cy="31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Audit - Free business and finance icons">
            <a:extLst>
              <a:ext uri="{FF2B5EF4-FFF2-40B4-BE49-F238E27FC236}">
                <a16:creationId xmlns:a16="http://schemas.microsoft.com/office/drawing/2014/main" id="{9364FA50-2670-0EFB-54DB-37A53271A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856" y="2867297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Automatiser la Gestion des Commandes Clients avec n8n – automise.fr">
            <a:extLst>
              <a:ext uri="{FF2B5EF4-FFF2-40B4-BE49-F238E27FC236}">
                <a16:creationId xmlns:a16="http://schemas.microsoft.com/office/drawing/2014/main" id="{D12456C2-3A86-A256-8527-B52837B70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4471416" y="1324655"/>
            <a:ext cx="622227" cy="62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heckmark Icon Green Check Mark Icon」のベクター画像素材（ロイヤリティフリー） 1156097725 |  Shutterstock">
            <a:extLst>
              <a:ext uri="{FF2B5EF4-FFF2-40B4-BE49-F238E27FC236}">
                <a16:creationId xmlns:a16="http://schemas.microsoft.com/office/drawing/2014/main" id="{03B89AC2-E9BC-25E1-A29B-72708D2028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/>
          <a:srcRect l="15612" t="2644" r="9367" b="24196"/>
          <a:stretch>
            <a:fillRect/>
          </a:stretch>
        </p:blipFill>
        <p:spPr bwMode="auto">
          <a:xfrm>
            <a:off x="4574613" y="2050789"/>
            <a:ext cx="470786" cy="49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42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B8BFB-30C6-7570-03A2-BDBF9F5E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FFFEE0-6686-EE68-DAF7-434D79111211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E3C4A7D-C453-7C00-6581-ABEE68D5E2AE}"/>
              </a:ext>
            </a:extLst>
          </p:cNvPr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EE8E038-D61F-17F3-B993-694105A20C9E}"/>
              </a:ext>
            </a:extLst>
          </p:cNvPr>
          <p:cNvSpPr/>
          <p:nvPr/>
        </p:nvSpPr>
        <p:spPr>
          <a:xfrm>
            <a:off x="411480" y="256032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3 · La VISIONE AI</a:t>
            </a:r>
            <a:endParaRPr lang="en-US" sz="1100" dirty="0">
              <a:solidFill>
                <a:srgbClr val="66CCFF"/>
              </a:solidFill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AA1143D2-673E-F3B7-1A55-44FA97465192}"/>
              </a:ext>
            </a:extLst>
          </p:cNvPr>
          <p:cNvSpPr/>
          <p:nvPr/>
        </p:nvSpPr>
        <p:spPr>
          <a:xfrm>
            <a:off x="411480" y="4937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 </a:t>
            </a:r>
            <a:r>
              <a:rPr lang="en-US" sz="2200" b="1" dirty="0" err="1">
                <a:solidFill>
                  <a:srgbClr val="FFFFFF"/>
                </a:solidFill>
              </a:rPr>
              <a:t>possibilità</a:t>
            </a:r>
            <a:r>
              <a:rPr lang="en-US" sz="2200" b="1" dirty="0">
                <a:solidFill>
                  <a:srgbClr val="FFFFFF"/>
                </a:solidFill>
              </a:rPr>
              <a:t> di </a:t>
            </a:r>
            <a:r>
              <a:rPr lang="en-US" sz="2200" b="1" dirty="0" err="1">
                <a:solidFill>
                  <a:srgbClr val="FFFFFF"/>
                </a:solidFill>
              </a:rPr>
              <a:t>una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gestione</a:t>
            </a:r>
            <a:r>
              <a:rPr lang="en-US" sz="2200" b="1" dirty="0">
                <a:solidFill>
                  <a:srgbClr val="FFFFFF"/>
                </a:solidFill>
              </a:rPr>
              <a:t> completa </a:t>
            </a:r>
            <a:r>
              <a:rPr lang="en-US" sz="2200" b="1" dirty="0" err="1">
                <a:solidFill>
                  <a:srgbClr val="FFFFFF"/>
                </a:solidFill>
              </a:rPr>
              <a:t>dei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modelli</a:t>
            </a:r>
            <a:r>
              <a:rPr lang="en-US" sz="2200" b="1" dirty="0">
                <a:solidFill>
                  <a:srgbClr val="FFFFFF"/>
                </a:solidFill>
              </a:rPr>
              <a:t> AI</a:t>
            </a:r>
            <a:endParaRPr lang="en-US" sz="22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931F9F49-B726-60EF-7C4B-925C371D2B2A}"/>
              </a:ext>
            </a:extLst>
          </p:cNvPr>
          <p:cNvSpPr/>
          <p:nvPr/>
        </p:nvSpPr>
        <p:spPr>
          <a:xfrm>
            <a:off x="246887" y="1207008"/>
            <a:ext cx="2834640" cy="3703320"/>
          </a:xfrm>
          <a:prstGeom prst="rect">
            <a:avLst/>
          </a:prstGeom>
          <a:solidFill>
            <a:srgbClr val="1B3A1B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60AF241-0391-8939-3593-CC526A344BF9}"/>
              </a:ext>
            </a:extLst>
          </p:cNvPr>
          <p:cNvSpPr/>
          <p:nvPr/>
        </p:nvSpPr>
        <p:spPr>
          <a:xfrm>
            <a:off x="256032" y="1938528"/>
            <a:ext cx="18209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8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0C0116E-B1B9-232F-98F4-10B24AE6A77C}"/>
              </a:ext>
            </a:extLst>
          </p:cNvPr>
          <p:cNvSpPr/>
          <p:nvPr/>
        </p:nvSpPr>
        <p:spPr>
          <a:xfrm>
            <a:off x="347472" y="2432304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1400" b="1" dirty="0" err="1">
                <a:solidFill>
                  <a:srgbClr val="00E5A0"/>
                </a:solidFill>
              </a:rPr>
              <a:t>Infrastruttura</a:t>
            </a:r>
            <a:r>
              <a:rPr lang="en-US" sz="1400" b="1" dirty="0">
                <a:solidFill>
                  <a:srgbClr val="00E5A0"/>
                </a:solidFill>
              </a:rPr>
              <a:t> locale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7452256-EB3C-CD52-E525-7592E14F5329}"/>
              </a:ext>
            </a:extLst>
          </p:cNvPr>
          <p:cNvSpPr/>
          <p:nvPr/>
        </p:nvSpPr>
        <p:spPr>
          <a:xfrm>
            <a:off x="384048" y="3072384"/>
            <a:ext cx="2578608" cy="90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it-IT" sz="1000" dirty="0">
                <a:solidFill>
                  <a:srgbClr val="AADDAA"/>
                </a:solidFill>
              </a:rPr>
              <a:t>Sovranità del dato: i dati restano in infrastruttura locale, garantendo la prevenzione della data </a:t>
            </a:r>
            <a:r>
              <a:rPr lang="it-IT" sz="1000" dirty="0" err="1">
                <a:solidFill>
                  <a:srgbClr val="AADDAA"/>
                </a:solidFill>
              </a:rPr>
              <a:t>exfiltration</a:t>
            </a:r>
            <a:r>
              <a:rPr lang="it-IT" sz="1000" dirty="0">
                <a:solidFill>
                  <a:srgbClr val="AADDAA"/>
                </a:solidFill>
              </a:rPr>
              <a:t> e una gestione totale della privacy.</a:t>
            </a:r>
            <a:endParaRPr lang="en-US" sz="10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725BEDEE-226A-AC8E-8D86-C9E884ECAACD}"/>
              </a:ext>
            </a:extLst>
          </p:cNvPr>
          <p:cNvSpPr/>
          <p:nvPr/>
        </p:nvSpPr>
        <p:spPr>
          <a:xfrm>
            <a:off x="384048" y="4095206"/>
            <a:ext cx="2560320" cy="173736"/>
          </a:xfrm>
          <a:prstGeom prst="rect">
            <a:avLst/>
          </a:prstGeom>
          <a:solidFill>
            <a:srgbClr val="2E5E2E"/>
          </a:solidFill>
          <a:ln w="12700">
            <a:solidFill>
              <a:srgbClr val="3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47112706-0747-EE29-2603-F74CB395407E}"/>
              </a:ext>
            </a:extLst>
          </p:cNvPr>
          <p:cNvSpPr/>
          <p:nvPr/>
        </p:nvSpPr>
        <p:spPr>
          <a:xfrm>
            <a:off x="457200" y="4095206"/>
            <a:ext cx="24871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</a:rPr>
              <a:t>✓  Air-gap Deployable</a:t>
            </a:r>
            <a:endParaRPr lang="en-US" sz="850" dirty="0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5FD86BF9-749A-0763-1DED-3FFD8AAF2903}"/>
              </a:ext>
            </a:extLst>
          </p:cNvPr>
          <p:cNvSpPr/>
          <p:nvPr/>
        </p:nvSpPr>
        <p:spPr>
          <a:xfrm>
            <a:off x="384048" y="4296374"/>
            <a:ext cx="2560320" cy="173736"/>
          </a:xfrm>
          <a:prstGeom prst="rect">
            <a:avLst/>
          </a:prstGeom>
          <a:solidFill>
            <a:srgbClr val="2E5E2E"/>
          </a:solidFill>
          <a:ln w="12700">
            <a:solidFill>
              <a:srgbClr val="3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D7A5E41A-0ABD-003E-9880-F4A35B84CAC7}"/>
              </a:ext>
            </a:extLst>
          </p:cNvPr>
          <p:cNvSpPr/>
          <p:nvPr/>
        </p:nvSpPr>
        <p:spPr>
          <a:xfrm>
            <a:off x="457200" y="4296374"/>
            <a:ext cx="24871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</a:rPr>
              <a:t>✓  Zero Lock-in</a:t>
            </a:r>
            <a:endParaRPr lang="en-US" sz="85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2B953375-2857-36E8-8BBC-B02A5AD942A6}"/>
              </a:ext>
            </a:extLst>
          </p:cNvPr>
          <p:cNvSpPr/>
          <p:nvPr/>
        </p:nvSpPr>
        <p:spPr>
          <a:xfrm>
            <a:off x="3218688" y="2284694"/>
            <a:ext cx="5687568" cy="822960"/>
          </a:xfrm>
          <a:prstGeom prst="rect">
            <a:avLst/>
          </a:prstGeom>
          <a:solidFill>
            <a:srgbClr val="D4F0E0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83FC30E2-B1B0-17DC-40B8-FF182CE9D826}"/>
              </a:ext>
            </a:extLst>
          </p:cNvPr>
          <p:cNvSpPr/>
          <p:nvPr/>
        </p:nvSpPr>
        <p:spPr>
          <a:xfrm>
            <a:off x="3218688" y="2284694"/>
            <a:ext cx="73152" cy="82296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D6E78836-D7A1-EF6D-000B-C88BCFA49225}"/>
              </a:ext>
            </a:extLst>
          </p:cNvPr>
          <p:cNvSpPr/>
          <p:nvPr/>
        </p:nvSpPr>
        <p:spPr>
          <a:xfrm>
            <a:off x="3355848" y="239442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7C454482-BEF2-8DB2-0951-53C688C8A1ED}"/>
              </a:ext>
            </a:extLst>
          </p:cNvPr>
          <p:cNvSpPr/>
          <p:nvPr/>
        </p:nvSpPr>
        <p:spPr>
          <a:xfrm>
            <a:off x="3895344" y="237613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44"/>
                </a:solidFill>
              </a:rPr>
              <a:t>LLM </a:t>
            </a:r>
            <a:r>
              <a:rPr lang="en-US" sz="1150" b="1" dirty="0" err="1">
                <a:solidFill>
                  <a:srgbClr val="1A2744"/>
                </a:solidFill>
              </a:rPr>
              <a:t>completamente</a:t>
            </a:r>
            <a:r>
              <a:rPr lang="en-US" sz="1150" b="1" dirty="0">
                <a:solidFill>
                  <a:srgbClr val="1A2744"/>
                </a:solidFill>
              </a:rPr>
              <a:t> locale o </a:t>
            </a:r>
            <a:r>
              <a:rPr lang="en-US" sz="1150" b="1" dirty="0" err="1">
                <a:solidFill>
                  <a:srgbClr val="1A2744"/>
                </a:solidFill>
              </a:rPr>
              <a:t>OpenSource</a:t>
            </a:r>
            <a:endParaRPr lang="en-US" sz="115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111F10BF-1684-6F41-3540-F23826A9042B}"/>
              </a:ext>
            </a:extLst>
          </p:cNvPr>
          <p:cNvSpPr/>
          <p:nvPr/>
        </p:nvSpPr>
        <p:spPr>
          <a:xfrm>
            <a:off x="3895344" y="266874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EA0"/>
                </a:solidFill>
              </a:rPr>
              <a:t>Llama 3, Mistral, Qwen su hardware on-prem. Zero costi API, latency minima, nessun dato trasmesso</a:t>
            </a:r>
            <a:endParaRPr lang="en-US" sz="95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AD8095DD-79B7-3B10-765A-EA8EA5610757}"/>
              </a:ext>
            </a:extLst>
          </p:cNvPr>
          <p:cNvSpPr/>
          <p:nvPr/>
        </p:nvSpPr>
        <p:spPr>
          <a:xfrm>
            <a:off x="3218688" y="3189950"/>
            <a:ext cx="5687568" cy="822960"/>
          </a:xfrm>
          <a:prstGeom prst="rect">
            <a:avLst/>
          </a:prstGeom>
          <a:solidFill>
            <a:srgbClr val="D6EA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6965A16B-14E4-C9C8-C602-549640056194}"/>
              </a:ext>
            </a:extLst>
          </p:cNvPr>
          <p:cNvSpPr/>
          <p:nvPr/>
        </p:nvSpPr>
        <p:spPr>
          <a:xfrm>
            <a:off x="3218688" y="3189950"/>
            <a:ext cx="73152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05BAB025-4CB6-6211-D4D0-F79821A8693E}"/>
              </a:ext>
            </a:extLst>
          </p:cNvPr>
          <p:cNvSpPr/>
          <p:nvPr/>
        </p:nvSpPr>
        <p:spPr>
          <a:xfrm>
            <a:off x="3355848" y="329967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C3205A32-D3AD-E5E3-8425-3578DEB12076}"/>
              </a:ext>
            </a:extLst>
          </p:cNvPr>
          <p:cNvSpPr/>
          <p:nvPr/>
        </p:nvSpPr>
        <p:spPr>
          <a:xfrm>
            <a:off x="3895344" y="328139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A2744"/>
                </a:solidFill>
              </a:rPr>
              <a:t>Gestione</a:t>
            </a:r>
            <a:r>
              <a:rPr lang="en-US" sz="1150" b="1" dirty="0">
                <a:solidFill>
                  <a:srgbClr val="1A2744"/>
                </a:solidFill>
              </a:rPr>
              <a:t> delle </a:t>
            </a:r>
            <a:r>
              <a:rPr lang="en-US" sz="1150" b="1" dirty="0" err="1">
                <a:solidFill>
                  <a:srgbClr val="1A2744"/>
                </a:solidFill>
              </a:rPr>
              <a:t>chiamate</a:t>
            </a:r>
            <a:r>
              <a:rPr lang="en-US" sz="1150" b="1" dirty="0">
                <a:solidFill>
                  <a:srgbClr val="1A2744"/>
                </a:solidFill>
              </a:rPr>
              <a:t> API verso </a:t>
            </a:r>
            <a:r>
              <a:rPr lang="en-US" sz="1150" b="1" dirty="0" err="1">
                <a:solidFill>
                  <a:srgbClr val="1A2744"/>
                </a:solidFill>
              </a:rPr>
              <a:t>i</a:t>
            </a:r>
            <a:r>
              <a:rPr lang="en-US" sz="1150" b="1" dirty="0">
                <a:solidFill>
                  <a:srgbClr val="1A2744"/>
                </a:solidFill>
              </a:rPr>
              <a:t> </a:t>
            </a:r>
            <a:r>
              <a:rPr lang="en-US" sz="1150" b="1" dirty="0" err="1">
                <a:solidFill>
                  <a:srgbClr val="1A2744"/>
                </a:solidFill>
              </a:rPr>
              <a:t>modelli</a:t>
            </a:r>
            <a:endParaRPr lang="en-US" sz="115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758BC525-E0D2-A634-79EA-10F41B49A13D}"/>
              </a:ext>
            </a:extLst>
          </p:cNvPr>
          <p:cNvSpPr/>
          <p:nvPr/>
        </p:nvSpPr>
        <p:spPr>
          <a:xfrm>
            <a:off x="3886200" y="3570733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EA0"/>
                </a:solidFill>
              </a:rPr>
              <a:t>Una completa </a:t>
            </a:r>
            <a:r>
              <a:rPr lang="en-US" sz="950" dirty="0" err="1">
                <a:solidFill>
                  <a:srgbClr val="6B7EA0"/>
                </a:solidFill>
              </a:rPr>
              <a:t>personalizzazione</a:t>
            </a:r>
            <a:r>
              <a:rPr lang="en-US" sz="950" dirty="0">
                <a:solidFill>
                  <a:srgbClr val="6B7EA0"/>
                </a:solidFill>
              </a:rPr>
              <a:t> di </a:t>
            </a:r>
            <a:r>
              <a:rPr lang="en-US" sz="950" dirty="0" err="1">
                <a:solidFill>
                  <a:srgbClr val="6B7EA0"/>
                </a:solidFill>
              </a:rPr>
              <a:t>quali</a:t>
            </a:r>
            <a:r>
              <a:rPr lang="en-US" sz="950" dirty="0">
                <a:solidFill>
                  <a:srgbClr val="6B7EA0"/>
                </a:solidFill>
              </a:rPr>
              <a:t> </a:t>
            </a:r>
            <a:r>
              <a:rPr lang="en-US" sz="950" dirty="0" err="1">
                <a:solidFill>
                  <a:srgbClr val="6B7EA0"/>
                </a:solidFill>
              </a:rPr>
              <a:t>modelli</a:t>
            </a:r>
            <a:r>
              <a:rPr lang="en-US" sz="950" dirty="0">
                <a:solidFill>
                  <a:srgbClr val="6B7EA0"/>
                </a:solidFill>
              </a:rPr>
              <a:t> e dove e come </a:t>
            </a:r>
            <a:r>
              <a:rPr lang="en-US" sz="950" dirty="0" err="1">
                <a:solidFill>
                  <a:srgbClr val="6B7EA0"/>
                </a:solidFill>
              </a:rPr>
              <a:t>richiamarli</a:t>
            </a:r>
            <a:endParaRPr lang="en-US" sz="950" dirty="0"/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F0088A55-3A04-7A3C-C5A0-404FD0268076}"/>
              </a:ext>
            </a:extLst>
          </p:cNvPr>
          <p:cNvSpPr/>
          <p:nvPr/>
        </p:nvSpPr>
        <p:spPr>
          <a:xfrm>
            <a:off x="3218688" y="4095206"/>
            <a:ext cx="5687568" cy="822960"/>
          </a:xfrm>
          <a:prstGeom prst="rect">
            <a:avLst/>
          </a:prstGeom>
          <a:solidFill>
            <a:srgbClr val="D6F4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BF846AE0-27BF-B64B-3320-D7ACA60432E3}"/>
              </a:ext>
            </a:extLst>
          </p:cNvPr>
          <p:cNvSpPr/>
          <p:nvPr/>
        </p:nvSpPr>
        <p:spPr>
          <a:xfrm>
            <a:off x="3218688" y="4095206"/>
            <a:ext cx="7315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3ADCC264-2FE1-D759-F5B3-17F3E1820A43}"/>
              </a:ext>
            </a:extLst>
          </p:cNvPr>
          <p:cNvSpPr/>
          <p:nvPr/>
        </p:nvSpPr>
        <p:spPr>
          <a:xfrm>
            <a:off x="3355848" y="420493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85E34952-C3D2-2168-84B2-A837EA7FE2EA}"/>
              </a:ext>
            </a:extLst>
          </p:cNvPr>
          <p:cNvSpPr/>
          <p:nvPr/>
        </p:nvSpPr>
        <p:spPr>
          <a:xfrm>
            <a:off x="3895344" y="437867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150" b="1" dirty="0">
                <a:solidFill>
                  <a:srgbClr val="1A2744"/>
                </a:solidFill>
              </a:rPr>
              <a:t>Evoluzione del sistema: Fine-tuning di modelli dedicati e configurazioni personalizzate.</a:t>
            </a:r>
            <a:endParaRPr lang="en-US" sz="1150" dirty="0"/>
          </a:p>
        </p:txBody>
      </p:sp>
      <p:pic>
        <p:nvPicPr>
          <p:cNvPr id="4098" name="Picture 2" descr="Llama 3 - Developer Guide">
            <a:extLst>
              <a:ext uri="{FF2B5EF4-FFF2-40B4-BE49-F238E27FC236}">
                <a16:creationId xmlns:a16="http://schemas.microsoft.com/office/drawing/2014/main" id="{A4B4B463-3526-6682-8C24-675C5445C8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-2976" t="-1113" r="53096" b="1113"/>
          <a:stretch>
            <a:fillRect/>
          </a:stretch>
        </p:blipFill>
        <p:spPr bwMode="auto">
          <a:xfrm>
            <a:off x="3374136" y="2425773"/>
            <a:ext cx="4691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Immagine 2052" descr="File:DeepSeek logo.svg - Wikipedia">
            <a:extLst>
              <a:ext uri="{FF2B5EF4-FFF2-40B4-BE49-F238E27FC236}">
                <a16:creationId xmlns:a16="http://schemas.microsoft.com/office/drawing/2014/main" id="{740D2E21-5696-76B9-1032-85D4D33F0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389" y="2319035"/>
            <a:ext cx="1742259" cy="370230"/>
          </a:xfrm>
          <a:prstGeom prst="rect">
            <a:avLst/>
          </a:prstGeom>
        </p:spPr>
      </p:pic>
      <p:pic>
        <p:nvPicPr>
          <p:cNvPr id="2054" name="Immagine 2053" descr="Api logo Images - Free Download on Freepik">
            <a:extLst>
              <a:ext uri="{FF2B5EF4-FFF2-40B4-BE49-F238E27FC236}">
                <a16:creationId xmlns:a16="http://schemas.microsoft.com/office/drawing/2014/main" id="{415C9ED3-AB42-DAD5-DCC2-94A2B69575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61" t="17097" r="16405" b="17841"/>
          <a:stretch>
            <a:fillRect/>
          </a:stretch>
        </p:blipFill>
        <p:spPr>
          <a:xfrm>
            <a:off x="3357845" y="3314701"/>
            <a:ext cx="537499" cy="533617"/>
          </a:xfrm>
          <a:prstGeom prst="rect">
            <a:avLst/>
          </a:prstGeom>
        </p:spPr>
      </p:pic>
      <p:pic>
        <p:nvPicPr>
          <p:cNvPr id="2055" name="Immagine 2054" descr="2,271 Fine Tune Icon Royalty-Free Images, Stock Photos &amp; Pictures |  Shutterstock">
            <a:extLst>
              <a:ext uri="{FF2B5EF4-FFF2-40B4-BE49-F238E27FC236}">
                <a16:creationId xmlns:a16="http://schemas.microsoft.com/office/drawing/2014/main" id="{C2979C26-95CE-26B2-6A74-21A8540F66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121" b="9910"/>
          <a:stretch>
            <a:fillRect/>
          </a:stretch>
        </p:blipFill>
        <p:spPr>
          <a:xfrm>
            <a:off x="3307332" y="4210739"/>
            <a:ext cx="588012" cy="627744"/>
          </a:xfrm>
          <a:prstGeom prst="rect">
            <a:avLst/>
          </a:prstGeom>
        </p:spPr>
      </p:pic>
      <p:sp>
        <p:nvSpPr>
          <p:cNvPr id="2056" name="CasellaDiTesto 2055">
            <a:extLst>
              <a:ext uri="{FF2B5EF4-FFF2-40B4-BE49-F238E27FC236}">
                <a16:creationId xmlns:a16="http://schemas.microsoft.com/office/drawing/2014/main" id="{FB4954A3-F1BD-1B1D-BDB6-6DDE4A2ED14F}"/>
              </a:ext>
            </a:extLst>
          </p:cNvPr>
          <p:cNvSpPr txBox="1"/>
          <p:nvPr/>
        </p:nvSpPr>
        <p:spPr>
          <a:xfrm>
            <a:off x="3218688" y="1312295"/>
            <a:ext cx="568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queste soluzioni, il flusso di dati da e verso i modelli viene spesso ignorato.</a:t>
            </a:r>
            <a:endParaRPr lang="en-US" dirty="0"/>
          </a:p>
        </p:txBody>
      </p:sp>
      <p:sp>
        <p:nvSpPr>
          <p:cNvPr id="2057" name="AutoShape 6" descr="Security Shield Logo Grafica di Acongraphic · Creative Fabrica">
            <a:extLst>
              <a:ext uri="{FF2B5EF4-FFF2-40B4-BE49-F238E27FC236}">
                <a16:creationId xmlns:a16="http://schemas.microsoft.com/office/drawing/2014/main" id="{E24E3180-1CAF-9086-D497-9AF1B14ED1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8" name="AutoShape 8" descr="Security Shield Logo Grafica di Acongraphic · Creative Fabrica">
            <a:extLst>
              <a:ext uri="{FF2B5EF4-FFF2-40B4-BE49-F238E27FC236}">
                <a16:creationId xmlns:a16="http://schemas.microsoft.com/office/drawing/2014/main" id="{54A97E61-920F-CF98-9CB5-1AE4C15DD3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9" name="Immagine 2058" descr="Web security icon shield lock symbol guard badge – Royalty-Free Vector |  VectorStock">
            <a:extLst>
              <a:ext uri="{FF2B5EF4-FFF2-40B4-BE49-F238E27FC236}">
                <a16:creationId xmlns:a16="http://schemas.microsoft.com/office/drawing/2014/main" id="{BC010306-03FB-5EDC-BF9F-BAA551028D1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806" t="13937" r="18243" b="21390"/>
          <a:stretch>
            <a:fillRect/>
          </a:stretch>
        </p:blipFill>
        <p:spPr>
          <a:xfrm>
            <a:off x="1260247" y="1522477"/>
            <a:ext cx="807921" cy="88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8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n8n + UYUNI: il flusso operativo completo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0299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0704" y="1298448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070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8D4"/>
                </a:solidFill>
              </a:rPr>
              <a:t>Come Punto centrale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743200"/>
            <a:ext cx="1810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it-IT" sz="950" dirty="0">
                <a:solidFill>
                  <a:srgbClr val="1A2744"/>
                </a:solidFill>
              </a:rPr>
              <a:t>n8n interagisce con Uyuni tramite protocollo XML-RPC in modalità bidirezionale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5955" y="3950208"/>
            <a:ext cx="707746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955" y="3950208"/>
            <a:ext cx="7077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XML-RPC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18565" y="3950208"/>
            <a:ext cx="782726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18565" y="3950208"/>
            <a:ext cx="7827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Salt API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68880" y="1207008"/>
            <a:ext cx="2029968" cy="3291840"/>
          </a:xfrm>
          <a:prstGeom prst="rect">
            <a:avLst/>
          </a:prstGeom>
          <a:solidFill>
            <a:srgbClr val="EBF5FF"/>
          </a:solidFill>
          <a:ln w="1270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68880" y="1207008"/>
            <a:ext cx="2029968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55264" y="1298448"/>
            <a:ext cx="457200" cy="45720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5526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56032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3FA0"/>
                </a:solidFill>
              </a:rPr>
              <a:t>AI Elabora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578608" y="2743200"/>
            <a:ext cx="1810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it-IT" sz="950" dirty="0">
                <a:solidFill>
                  <a:srgbClr val="1A2744"/>
                </a:solidFill>
              </a:rPr>
              <a:t>Un modello LLM locale analizza il contesto, lo correla con i metadati forniti e genera raccomandazioni in linguaggio naturale.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42082" y="3950208"/>
            <a:ext cx="632765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42082" y="3950208"/>
            <a:ext cx="632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Ollama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96462" y="3950208"/>
            <a:ext cx="407822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84575" y="3942370"/>
            <a:ext cx="4078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RAG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66514" y="3950208"/>
            <a:ext cx="332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ML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1207008"/>
            <a:ext cx="20299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49824" y="1298448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4982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5488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👨‍💻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75488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9E5B"/>
                </a:solidFill>
              </a:rPr>
              <a:t>Operatore Approva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773168" y="2743200"/>
            <a:ext cx="1810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it-IT" sz="950" dirty="0">
                <a:solidFill>
                  <a:srgbClr val="1A2744"/>
                </a:solidFill>
              </a:rPr>
              <a:t>Il sistema invia notifiche via chat o email complete di contesto operativo e </a:t>
            </a:r>
            <a:r>
              <a:rPr lang="it-IT" sz="950" dirty="0" err="1">
                <a:solidFill>
                  <a:srgbClr val="1A2744"/>
                </a:solidFill>
              </a:rPr>
              <a:t>intuzioni</a:t>
            </a:r>
            <a:r>
              <a:rPr lang="it-IT" sz="950" dirty="0">
                <a:solidFill>
                  <a:srgbClr val="1A2744"/>
                </a:solidFill>
              </a:rPr>
              <a:t>; l'operatore può quindi approvare l'azione o interagire con il workflow.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01895" y="3950208"/>
            <a:ext cx="557784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01895" y="3950208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Teams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14543" y="3950208"/>
            <a:ext cx="557784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14543" y="3950208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Email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58000" y="1207008"/>
            <a:ext cx="20299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644384" y="1298448"/>
            <a:ext cx="457200" cy="45720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44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4944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6949440" y="2395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7B2A"/>
                </a:solidFill>
              </a:rPr>
              <a:t>Salt </a:t>
            </a:r>
            <a:r>
              <a:rPr lang="en-US" sz="1250" b="1" dirty="0" err="1">
                <a:solidFill>
                  <a:srgbClr val="E07B2A"/>
                </a:solidFill>
              </a:rPr>
              <a:t>Interagisce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967728" y="2743200"/>
            <a:ext cx="1810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it-IT" sz="1000" dirty="0"/>
              <a:t>Infine, Salt esegue i comandi o le ispezioni direttamente sugli endpoint, operando in un contesto decentralizzato e distribuito.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67728" y="3950208"/>
            <a:ext cx="857707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67728" y="3950208"/>
            <a:ext cx="8577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Salt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880299" y="3950208"/>
            <a:ext cx="932688" cy="182880"/>
          </a:xfrm>
          <a:prstGeom prst="rect">
            <a:avLst/>
          </a:prstGeom>
          <a:solidFill>
            <a:srgbClr val="D6EAFF"/>
          </a:solidFill>
          <a:ln w="12700">
            <a:solidFill>
              <a:srgbClr val="D6E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80299" y="39502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78D4"/>
                </a:solidFill>
              </a:rPr>
              <a:t>ServiceNow</a:t>
            </a:r>
            <a:endParaRPr lang="en-US" sz="750" dirty="0"/>
          </a:p>
        </p:txBody>
      </p:sp>
      <p:pic>
        <p:nvPicPr>
          <p:cNvPr id="64" name="Picture 2" descr="Engage with Uyuni Community Hours - openSUSE News">
            <a:extLst>
              <a:ext uri="{FF2B5EF4-FFF2-40B4-BE49-F238E27FC236}">
                <a16:creationId xmlns:a16="http://schemas.microsoft.com/office/drawing/2014/main" id="{27E95338-BD27-654F-D6DB-FA1CBB65A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02" y="1820883"/>
            <a:ext cx="888405" cy="53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12" descr="Automatiser la Gestion des Commandes Clients avec n8n – automise.fr">
            <a:extLst>
              <a:ext uri="{FF2B5EF4-FFF2-40B4-BE49-F238E27FC236}">
                <a16:creationId xmlns:a16="http://schemas.microsoft.com/office/drawing/2014/main" id="{00AC7584-1F87-D101-BA32-8057C2201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2861636" y="1782428"/>
            <a:ext cx="622227" cy="62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Llama 3 - Developer Guide">
            <a:extLst>
              <a:ext uri="{FF2B5EF4-FFF2-40B4-BE49-F238E27FC236}">
                <a16:creationId xmlns:a16="http://schemas.microsoft.com/office/drawing/2014/main" id="{BEC88B9A-FE39-C3D2-3790-8828E9930E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-2976" t="-1113" r="53096" b="1113"/>
          <a:stretch>
            <a:fillRect/>
          </a:stretch>
        </p:blipFill>
        <p:spPr bwMode="auto">
          <a:xfrm>
            <a:off x="3635144" y="1813085"/>
            <a:ext cx="4691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Immagine 66" descr="Immagine che contiene schizzo, Simmetria,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1DCD54C2-CBA7-5867-1E59-3CF9CA038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168" y="1889082"/>
            <a:ext cx="494767" cy="472643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2304288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98848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</a:rPr>
              <a:t>→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693408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</a:rPr>
              <a:t>→</a:t>
            </a:r>
            <a:endParaRPr lang="en-US" sz="1800" dirty="0"/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8D1D7C76-F513-49BB-6100-593505B07E42}"/>
              </a:ext>
            </a:extLst>
          </p:cNvPr>
          <p:cNvSpPr/>
          <p:nvPr/>
        </p:nvSpPr>
        <p:spPr>
          <a:xfrm>
            <a:off x="457200" y="256032"/>
            <a:ext cx="8321040" cy="201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cap="all" dirty="0">
                <a:solidFill>
                  <a:srgbClr val="66CCFF"/>
                </a:solidFill>
              </a:rPr>
              <a:t>SEZIONE 3 · La VISIONE AI</a:t>
            </a:r>
            <a:endParaRPr lang="en-US" sz="1100" dirty="0">
              <a:solidFill>
                <a:srgbClr val="66CC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78D4">
              <a:alpha val="18000"/>
            </a:srgbClr>
          </a:solidFill>
          <a:ln w="12700">
            <a:solidFill>
              <a:srgbClr val="0078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AACC"/>
                </a:solidFill>
              </a:rPr>
              <a:t>Prossimi </a:t>
            </a:r>
            <a:r>
              <a:rPr lang="en-US" sz="1600" dirty="0" err="1">
                <a:solidFill>
                  <a:srgbClr val="88AACC"/>
                </a:solidFill>
              </a:rPr>
              <a:t>passi</a:t>
            </a:r>
            <a:r>
              <a:rPr lang="en-US" sz="1600" dirty="0">
                <a:solidFill>
                  <a:srgbClr val="88AACC"/>
                </a:solidFill>
              </a:rPr>
              <a:t> verso la </a:t>
            </a:r>
            <a:r>
              <a:rPr lang="en-US" sz="1600" dirty="0" err="1">
                <a:solidFill>
                  <a:srgbClr val="88AACC"/>
                </a:solidFill>
              </a:rPr>
              <a:t>soluzione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AIOps </a:t>
            </a:r>
            <a:r>
              <a:rPr lang="en-US" sz="3400" b="1" dirty="0" err="1">
                <a:solidFill>
                  <a:srgbClr val="FFFFFF"/>
                </a:solidFill>
              </a:rPr>
              <a:t>Conclusione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1239</Words>
  <Application>Microsoft Office PowerPoint</Application>
  <PresentationFormat>Presentazione su schermo (16:9)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IT Operations</dc:title>
  <dc:subject>PptxGenJS Presentation</dc:subject>
  <dc:creator>Gianluca De Rossi</dc:creator>
  <cp:lastModifiedBy>Ameglio  Alberto</cp:lastModifiedBy>
  <cp:revision>5</cp:revision>
  <dcterms:created xsi:type="dcterms:W3CDTF">2026-03-02T18:34:12Z</dcterms:created>
  <dcterms:modified xsi:type="dcterms:W3CDTF">2026-03-03T16:08:11Z</dcterms:modified>
</cp:coreProperties>
</file>