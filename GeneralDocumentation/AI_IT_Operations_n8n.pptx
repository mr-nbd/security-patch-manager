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AI per le IT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AA"/>
                </a:solidFill>
                <a:latin typeface="Calibri"/>
              </a:rPr>
              <a:t>Automazione · Intelligenza · Innovazione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AC4"/>
                </a:solidFill>
                <a:latin typeface="Calibri"/>
              </a:rPr>
              <a:t>n8n  ×  UYUNI  ×  SaltStack  ×  AI Open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800600"/>
            <a:ext cx="3931920" cy="457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2465A"/>
                </a:solidFill>
                <a:latin typeface="Calibri"/>
              </a:rPr>
              <a:t>[ inserire logo aziendale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Perché l'AI per le IT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2103120" cy="4754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10312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" y="1623060"/>
            <a:ext cx="868680" cy="86868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70992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Automatizzare
task ripetitivi
e noiosi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2103120" cy="4754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097280"/>
            <a:ext cx="210312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1860" y="1623060"/>
            <a:ext cx="868680" cy="8686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0992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Analizzare
grandi volumi
di dati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097280"/>
            <a:ext cx="2103120" cy="4754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1097280"/>
            <a:ext cx="210312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83580" y="162306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170992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Correlare info
tra sistemi
eterogenei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1097280"/>
            <a:ext cx="2103120" cy="4754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0" y="1097280"/>
            <a:ext cx="2103120" cy="109728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15300" y="1623060"/>
            <a:ext cx="868680" cy="868680"/>
          </a:xfrm>
          <a:prstGeom prst="ellipse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70992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Potenziare
le capacità
degli operatori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097280"/>
            <a:ext cx="2103120" cy="4754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09728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7020" y="1623060"/>
            <a:ext cx="868680" cy="8686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33888" y="1709928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78892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Ridurre
il carico sul
team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Scenario di Riferimento — Le Sorgenti Dati 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3832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" cy="13258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VM On-Premise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Linux · Windows · bare metal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3832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91440" cy="13258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Azure / AWS / GCP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Cloud multi-provider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3832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91440" cy="1325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34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CMDB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Asset inventory &amp; topology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33832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91440" cy="132588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Log &amp; Metriche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Traces · Events ·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743200"/>
            <a:ext cx="33832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743200"/>
            <a:ext cx="91440" cy="132588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8803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Errata / CVE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Security advisories NVD/vendor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43200"/>
            <a:ext cx="33832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743200"/>
            <a:ext cx="91440" cy="132588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8803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Ticket &amp; incident management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607040" y="2560320"/>
            <a:ext cx="1005840" cy="411480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0" y="1737360"/>
            <a:ext cx="1005840" cy="1920240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21945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OPS
TEAM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1247120" cy="658368"/>
          </a:xfrm>
          <a:prstGeom prst="roundRect">
            <a:avLst/>
          </a:prstGeom>
          <a:solidFill>
            <a:srgbClr val="26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alibri"/>
              </a:rPr>
              <a:t>⚠  Eterogeneità delle fonti  →  nessuna visione unificata  →  team costantemente sovraccarico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Come Siamo Arrivati Qui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291840" cy="36576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29184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60220" y="1943100"/>
            <a:ext cx="777240" cy="77724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0299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Infrastruttura
Centralizzata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AC4"/>
                </a:solidFill>
                <a:latin typeface="Calibri"/>
              </a:rPr>
              <a:t>UYUNI + SaltStack per
gestione multi-OS e multi-tenant
CSP-independent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6200" y="3090672"/>
            <a:ext cx="320040" cy="347472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291840" cy="36576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29184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4980" y="1943100"/>
            <a:ext cx="777240" cy="7772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20299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Patch Management
(Progetto Parallelo)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404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AC4"/>
                </a:solidFill>
                <a:latin typeface="Calibri"/>
              </a:rPr>
              <a:t>Security Patch Manager:
la necessità di automazione
ha reso visibile il potenziale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090672"/>
            <a:ext cx="320040" cy="347472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463040"/>
            <a:ext cx="3291840" cy="36576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463040"/>
            <a:ext cx="329184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49740" y="1943100"/>
            <a:ext cx="777240" cy="7772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029968"/>
            <a:ext cx="6035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971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AI per le
IT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8404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AC4"/>
                </a:solidFill>
                <a:latin typeface="Calibri"/>
              </a:rPr>
              <a:t>L'infrastruttura esistente
diventa la base per
l'integrazione con n8n +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  <a:latin typeface="Calibri"/>
              </a:rPr>
              <a:t>L'infrastruttura costruita per il patch management è oggi il fondamento dell'AI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UYUNI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Calibri"/>
              </a:rPr>
              <a:t>Gestione Centralizzata
dell'Infrastruttura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Strumento open source per la gestione unificata
di sistemi Linux eterogenei.
Registra, monitora e governa fleet multi-OS
da un singolo pannello di controllo.
Usato come infrastruttura di base su cui
n8n si aggancia per l'AI orchestration.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5029200" cy="777240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9144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XML-RPC API  —  Il punto di aggancio per n8n e l'AI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777240"/>
            <a:ext cx="61264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777240"/>
            <a:ext cx="82296" cy="13258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08776" y="1175004"/>
            <a:ext cx="530352" cy="530352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12471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8869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Multi-OS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371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Ubuntu · RHEL · SUSE · Debian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304288"/>
            <a:ext cx="61264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2304288"/>
            <a:ext cx="82296" cy="13258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6" y="2702052"/>
            <a:ext cx="530352" cy="53035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26517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1401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Errata &amp; 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89864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Distribuzione centralizzata di aggiornamenti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831336"/>
            <a:ext cx="61264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831336"/>
            <a:ext cx="82296" cy="1325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08776" y="4229100"/>
            <a:ext cx="530352" cy="53035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41788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94106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SaltStack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42569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Configuration management integrato nativo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5358384"/>
            <a:ext cx="6126480" cy="132588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5358384"/>
            <a:ext cx="82296" cy="132588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08776" y="5756148"/>
            <a:ext cx="530352" cy="530352"/>
          </a:xfrm>
          <a:prstGeom prst="ellipse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7064" y="570585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46811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XML-RPC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95274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Integrazione con n8n, AI tools, automazioni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446520"/>
            <a:ext cx="11247120" cy="329184"/>
          </a:xfrm>
          <a:prstGeom prst="roundRect">
            <a:avLst/>
          </a:prstGeom>
          <a:solidFill>
            <a:srgbClr val="0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464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C6482"/>
                </a:solidFill>
                <a:latin typeface="Calibri"/>
              </a:rPr>
              <a:t>[  SUGGERIMENTO: inserire screenshot dashboard UYUNI con lista sistemi registrati 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Open Source — La Solidità dei Numeri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2103120" cy="41148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210312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9EFF"/>
                </a:solidFill>
                <a:latin typeface="Calibri"/>
              </a:rP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anni di sviluppo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UYUNI / Spacewalk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280160"/>
            <a:ext cx="2103120" cy="41148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62072" y="1280160"/>
            <a:ext cx="210312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9659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AA"/>
                </a:solidFill>
                <a:latin typeface="Calibri"/>
              </a:rPr>
              <a:t>800+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017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stelle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UYUNI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280160"/>
            <a:ext cx="2103120" cy="41148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1224" y="1280160"/>
            <a:ext cx="210312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9659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6B35"/>
                </a:solidFill>
                <a:latin typeface="Calibri"/>
              </a:rPr>
              <a:t>14k+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3017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stelle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SaltStack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0376" y="1280160"/>
            <a:ext cx="2103120" cy="41148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0376" y="1280160"/>
            <a:ext cx="2103120" cy="109728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19659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A88"/>
                </a:solidFill>
                <a:latin typeface="Calibri"/>
              </a:rPr>
              <a:t>13+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6" y="3017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anni in produzione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SaltStack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39528" y="1280160"/>
            <a:ext cx="2103120" cy="41148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39528" y="128016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19659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54F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3017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CSP-Independent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Nessun vendor lock-in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77840"/>
            <a:ext cx="11247120" cy="594360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87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AC4"/>
                </a:solidFill>
                <a:latin typeface="Calibri"/>
              </a:rPr>
              <a:t>Foundation: openSUSE · VMware Salt · Community globale attiva · Codice auditabile · Costi zero di licenza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I Tre Pilastri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B4D7FF"/>
                </a:solidFill>
                <a:latin typeface="Calibri"/>
              </a:rPr>
              <a:t>del Valore dell'AI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CEBFF"/>
                </a:solidFill>
                <a:latin typeface="Calibri"/>
              </a:rPr>
              <a:t>Automazione  ·  Intelligence  ·  Novelty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 Tre Pilastri del Valore dell'AI per le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3611880" cy="5486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3611880" cy="1371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1348740"/>
            <a:ext cx="960120" cy="96012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4812" y="1435607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A9EFF"/>
                </a:solidFill>
                <a:latin typeface="Calibri"/>
              </a:rPr>
              <a:t>AUTOMAZIONE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Elimina il lavoro manuale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47872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ripetitivo e time-consuming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968496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389120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Classificazione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809744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Scheduling intelligente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30368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Report automatici notturni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650992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Ticket enrichment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914400"/>
            <a:ext cx="3611880" cy="5486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914400"/>
            <a:ext cx="361188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1348740"/>
            <a:ext cx="960120" cy="9601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6732" y="1435607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871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AA"/>
                </a:solidFill>
                <a:latin typeface="Calibri"/>
              </a:rP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3127248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Analizza ciò che l'uomo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3547872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non può processare da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3968496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389120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Correlazione log/metriche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809744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Root cause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5230368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Anomaly detection su 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5650992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Pattern recognition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914400"/>
            <a:ext cx="3611880" cy="5486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914400"/>
            <a:ext cx="3611880" cy="13716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0" y="1348740"/>
            <a:ext cx="960120" cy="96012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8652" y="1435607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48716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54F"/>
                </a:solidFill>
                <a:latin typeface="Calibri"/>
              </a:rPr>
              <a:t>NOVELTY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7928" y="3127248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Ricerca proattiva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3547872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di situazioni nuove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3968496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389120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Anomalie prima dell'incidente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809744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Suggerimento azioni inedite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5230368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Knowledge base evolutiva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5650992"/>
            <a:ext cx="33558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→ Proactive alerting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Scenari Reali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3611880" cy="53949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3611880" cy="1371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7380" y="1417320"/>
            <a:ext cx="822960" cy="82296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79676" y="149047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0487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9EFF"/>
                </a:solidFill>
                <a:latin typeface="Calibri"/>
              </a:rP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71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Ricerca documentazione infrastruttura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747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9776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Correlazione metadati server e CVE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480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Best Practice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9834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(SQL Server, Linux Server)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486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Inventory e change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960120"/>
            <a:ext cx="3611880" cy="53949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960120"/>
            <a:ext cx="361188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9300" y="1417320"/>
            <a:ext cx="822960" cy="8229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1596" y="149047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0487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  <a:latin typeface="Calibri"/>
              </a:rPr>
              <a:t>PROCESS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971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Morning Check automatico: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4747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stato piattaforma ogni mattina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9776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Automated Report su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480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Ticket enrichment via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9834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check automatici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5486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Smart alerting con pre-analisi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960120"/>
            <a:ext cx="3611880" cy="53949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960120"/>
            <a:ext cx="361188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61220" y="1417320"/>
            <a:ext cx="822960" cy="8229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3516" y="149047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40487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REACTIVE / PROACTIVE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2971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Verifica qualità del servizio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34747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per applicazione/sistema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39776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Rilevamento anomalie su KPI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4480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Root cause analysis post-incidente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49834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Build evidence prima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54864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    di un war room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AI Orchestration Layer — n8n al Centro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0058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91440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  <a:latin typeface="Calibri"/>
              </a:rPr>
              <a:t>OPERATORE  /  AI MODELS  /  ALERT  /  REPORT  / 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011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▲  OUTPUT  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468880"/>
            <a:ext cx="8869680" cy="1325880"/>
          </a:xfrm>
          <a:prstGeom prst="roundRect">
            <a:avLst/>
          </a:prstGeom>
          <a:solidFill>
            <a:srgbClr val="003C32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70048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AA"/>
                </a:solidFill>
                <a:latin typeface="Calibri"/>
              </a:rPr>
              <a:t>n8n  —  AI Orchestration &amp; Workflow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Workflow visuale  ·  Modelli AI  ·  Trasparenza  ·  Audit Trail  ·  Trigger event-driven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886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▼  QUERY / AZIONI 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965960" cy="1280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965960" cy="91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UYUNI
XML-RPC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42616" y="4389120"/>
            <a:ext cx="1965960" cy="1280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42616" y="4389120"/>
            <a:ext cx="196596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46634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Log &amp;
Metriche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4389120"/>
            <a:ext cx="1965960" cy="1280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28032" y="4389120"/>
            <a:ext cx="196596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46634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CMDB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3448" y="4389120"/>
            <a:ext cx="1965960" cy="1280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13448" y="4389120"/>
            <a:ext cx="1965960" cy="914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46634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Errata
&amp; CVE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4389120"/>
            <a:ext cx="1965960" cy="1280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4389120"/>
            <a:ext cx="1965960" cy="9144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46634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Service
Desk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06440"/>
            <a:ext cx="11247120" cy="365760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8795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INFRASTRUTTURA — SORGENTI DATI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446520"/>
            <a:ext cx="11247120" cy="329184"/>
          </a:xfrm>
          <a:prstGeom prst="roundRect">
            <a:avLst/>
          </a:prstGeom>
          <a:solidFill>
            <a:srgbClr val="0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64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C6482"/>
                </a:solidFill>
                <a:latin typeface="Calibri"/>
              </a:rPr>
              <a:t>[  SUGGERIMENTO: sostituire con diagramma animato (draw.io / Miro) mostrando i flussi dati 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Le Sfide dell'AI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9BA5"/>
                </a:solidFill>
                <a:latin typeface="Calibri"/>
              </a:rPr>
              <a:t>Quando l'intelligenza non spiega sé stessa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4855"/>
                </a:solidFill>
                <a:latin typeface="Calibri"/>
              </a:rPr>
              <a:t>Trasparenza  ·  Interpretabilità  ·  Audit Trail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 Criticità dell'AI in Produzione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394960" cy="5120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94960" cy="13716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600200"/>
            <a:ext cx="1005840" cy="1005840"/>
          </a:xfrm>
          <a:prstGeom prst="ellipse">
            <a:avLst/>
          </a:prstGeom>
          <a:solidFill>
            <a:srgbClr val="4B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719072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4855"/>
                </a:solidFill>
                <a:latin typeface="Calibri"/>
              </a:rP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4855"/>
                </a:solidFill>
                <a:latin typeface="Calibri"/>
              </a:rPr>
              <a:t>CARENZA DI
TRASPARENZA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Il modello decide
ma non mostra il ragionamento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→ Impossibile auditare una decisione
→ Nessun trail: perché ha fatto X?
→ Compliance: come dimostro la logica?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960120"/>
            <a:ext cx="5394960" cy="5120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960120"/>
            <a:ext cx="539496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0" y="1600200"/>
            <a:ext cx="1005840" cy="1005840"/>
          </a:xfrm>
          <a:prstGeom prst="ellipse">
            <a:avLst/>
          </a:prstGeom>
          <a:solidFill>
            <a:srgbClr val="4B2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19072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  <a:latin typeface="Calibri"/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alibri"/>
              </a:rPr>
              <a:t>CARENZA DI
INTERPRETABILITÀ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Non si capisce perché
una decisione è stata presa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43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→ Debug impossibile su incidenti
→ Fiducia zero dall'operatore
→ Rischio azioni errate in produzione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236208"/>
            <a:ext cx="11247120" cy="475488"/>
          </a:xfrm>
          <a:prstGeom prst="roundRect">
            <a:avLst/>
          </a:prstGeom>
          <a:solidFill>
            <a:srgbClr val="30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Calibri"/>
              </a:rPr>
              <a:t>Serve uno strato che renda ogni azione AI:  VISIBILE  ·  TRACCIABILE  ·  COMPRENSIBILE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00D4AA"/>
                </a:solidFill>
                <a:latin typeface="Calibri"/>
              </a:rPr>
              <a:t>La Risposta Ingegneristica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FEEE1"/>
                </a:solidFill>
                <a:latin typeface="Calibri"/>
              </a:rPr>
              <a:t>Workflow Visuale  ·  Trasparenza  ·  Modelli Locali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EC3B4"/>
                </a:solidFill>
                <a:latin typeface="Calibri"/>
              </a:rPr>
              <a:t>50.000+ ★ GitHub  ·  400+ integrazioni  ·  80.000+ community  ·  Open 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n8n — Workflow Visuale = Trasparenza Nativa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2331720" cy="10058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331720" cy="91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2331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TRIGGER
(UYUNI Event)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0632" y="1252728"/>
            <a:ext cx="411480" cy="310896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914400"/>
            <a:ext cx="2331720" cy="10058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914400"/>
            <a:ext cx="233172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078992"/>
            <a:ext cx="2331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 NODE
(Analisi CVE)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05272" y="1252728"/>
            <a:ext cx="411480" cy="310896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914400"/>
            <a:ext cx="2331720" cy="10058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914400"/>
            <a:ext cx="233172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78992"/>
            <a:ext cx="2331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DECISION
(Risk Score)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39912" y="1252728"/>
            <a:ext cx="411480" cy="310896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914400"/>
            <a:ext cx="2331720" cy="10058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914400"/>
            <a:ext cx="2331720" cy="9144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078992"/>
            <a:ext cx="2331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ACTION
(Notify/Apply)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057400"/>
            <a:ext cx="11430000" cy="438912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1031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📋  Execution Log: ogni nodo registra  input · output · tempo · modello · errori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70048"/>
            <a:ext cx="3566160" cy="1600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670048"/>
            <a:ext cx="82296" cy="16002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779776"/>
            <a:ext cx="3310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  <a:latin typeface="Calibri"/>
              </a:rPr>
              <a:t>AUDIT TRAIL AUTOMATICO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64408"/>
            <a:ext cx="3310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Ogni step del flusso è loggato.
Sai esattamente cosa è entrato,
cosa è uscito e perché.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2670048"/>
            <a:ext cx="3566160" cy="1600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2670048"/>
            <a:ext cx="82296" cy="1600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2779776"/>
            <a:ext cx="3310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DEBUG NODO PER NODO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3264408"/>
            <a:ext cx="3310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Non si debugga un monolite.
Isoli il problema nel singolo
nodo del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670048"/>
            <a:ext cx="3566160" cy="1600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670048"/>
            <a:ext cx="82296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2779776"/>
            <a:ext cx="33101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WORKFLOW ISOLATI PER 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3264408"/>
            <a:ext cx="3310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I dati di ogni cliente restano
separati nei propri workflow
dedicati.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446520"/>
            <a:ext cx="11247120" cy="329184"/>
          </a:xfrm>
          <a:prstGeom prst="roundRect">
            <a:avLst/>
          </a:prstGeom>
          <a:solidFill>
            <a:srgbClr val="0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464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C6482"/>
                </a:solidFill>
                <a:latin typeface="Calibri"/>
              </a:rPr>
              <a:t>[  SUGGERIMENTO: inserire screenshot reale di workflow n8n con nodi colorati + execution log 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n8n — Ingegneria Personalizzata dei Modelli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440680" cy="2423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44068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  <a:latin typeface="Calibri"/>
              </a:rPr>
              <a:t>🎯  SELEZIONE MODELLO PER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Modello leggero per classificare alert.
Modello potente per analisi CVE complessa.
Ogni task ha il modello giusto, senza sprechi.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960120"/>
            <a:ext cx="5440680" cy="2423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44068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4300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Calibri"/>
              </a:rPr>
              <a:t>🔀  SEGMENTAZIONE DEI FLUSSI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Discovery · Test · Approvazione · Notifica.
Ogni processo: workflow dedicato.
Manutenibilità e isolamento totale.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5440680" cy="2423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544068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🔍  DEBUG GRANULARE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27448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Il problema è nel nodo X, non nel sistema.
Test isolato per segmento.
Fine-tuning senza toccare il resto.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03320"/>
            <a:ext cx="5440680" cy="242316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5440680" cy="109728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A88"/>
                </a:solidFill>
                <a:latin typeface="Calibri"/>
              </a:rPr>
              <a:t>🧬  SPECIALIZZAZIONE &amp;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27448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Modelli addestrati su domini specifici:
Security · Compliance · Infrastruttura.
Knowledge base proprietaria e aggiornabile.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Sicurezza — I Dati dei Clienti Non Escono Mai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7315200" cy="5257800"/>
          </a:xfrm>
          <a:prstGeom prst="roundRect">
            <a:avLst/>
          </a:prstGeom>
          <a:solidFill>
            <a:srgbClr val="071C14"/>
          </a:solidFill>
          <a:ln w="19050">
            <a:solidFill>
              <a:srgbClr val="00B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A88"/>
                </a:solidFill>
                <a:latin typeface="Calibri"/>
              </a:rPr>
              <a:t>🔒  RETE LOCALE / ON-PREMISE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828800" cy="12344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82880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92808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n8n
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691640"/>
            <a:ext cx="1828800" cy="12344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691640"/>
            <a:ext cx="1828800" cy="9144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892808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Ollama
(LLM locale)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691640"/>
            <a:ext cx="1828800" cy="12344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691640"/>
            <a:ext cx="1828800" cy="91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892808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UYUNI
XML-RPC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828800" cy="12344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37560"/>
            <a:ext cx="18288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38728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PostgreSQL
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3337560"/>
            <a:ext cx="1828800" cy="12344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3337560"/>
            <a:ext cx="1828800" cy="9144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3538728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Dati
Clienti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337560"/>
            <a:ext cx="1828800" cy="12344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337560"/>
            <a:ext cx="1828800" cy="91440"/>
          </a:xfrm>
          <a:prstGeom prst="rect">
            <a:avLst/>
          </a:prstGeom>
          <a:solidFill>
            <a:srgbClr val="94A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3538728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SPM
Orchestrator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960120"/>
            <a:ext cx="3840480" cy="11430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960120"/>
            <a:ext cx="73152" cy="114300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051560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A88"/>
                </a:solidFill>
                <a:latin typeface="Calibri"/>
              </a:rPr>
              <a:t>GDPR COMPLIANT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50876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Nessun dato cliente inviato
a servizi cloud pubblici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304288"/>
            <a:ext cx="3840480" cy="11430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304288"/>
            <a:ext cx="73152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ZERO VENDOR LOCK-IN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852928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Ollama, vLLM, LM Studio:
open source self-hosted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648456"/>
            <a:ext cx="3840480" cy="11430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648456"/>
            <a:ext cx="73152" cy="11430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739896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EFF"/>
                </a:solidFill>
                <a:latin typeface="Calibri"/>
              </a:rPr>
              <a:t>LATENZA RIDOTTA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197096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Inference locale = risposta
più rapida, costi contenuti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992624"/>
            <a:ext cx="3840480" cy="11430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992624"/>
            <a:ext cx="731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5084064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CONTROLLO TOTALE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541264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AC4"/>
                </a:solidFill>
                <a:latin typeface="Calibri"/>
              </a:rPr>
              <a:t>Versioning modelli, fine-tuning
interno, audit completo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742432"/>
            <a:ext cx="3840480" cy="530352"/>
          </a:xfrm>
          <a:prstGeom prst="roundRect">
            <a:avLst/>
          </a:prstGeom>
          <a:solidFill>
            <a:srgbClr val="30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58155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4855"/>
                </a:solidFill>
                <a:latin typeface="Calibri"/>
              </a:rPr>
              <a:t>✗  Cloud AI pubblici: traffico clienti non esposto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446520"/>
            <a:ext cx="11247120" cy="329184"/>
          </a:xfrm>
          <a:prstGeom prst="roundRect">
            <a:avLst/>
          </a:prstGeom>
          <a:solidFill>
            <a:srgbClr val="0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464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C6482"/>
                </a:solidFill>
                <a:latin typeface="Calibri"/>
              </a:rPr>
              <a:t>[  SUGGERIMENTO: inserire diagramma di rete che mostra i confini della rete locale con firewall 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L'Architettura Integrata — UYUNI · n8n ·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2057400" cy="2834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05740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9EFF"/>
                </a:solidFill>
                <a:latin typeface="Calibri"/>
              </a:rPr>
              <a:t>UYUNI
+
SaltStack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468880"/>
            <a:ext cx="18379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Registra sistemi
Distribuisce patch
XML-RPC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50592" y="2514600"/>
            <a:ext cx="256032" cy="320040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5768" y="1280160"/>
            <a:ext cx="2057400" cy="2834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15768" y="1280160"/>
            <a:ext cx="2057400" cy="109728"/>
          </a:xfrm>
          <a:prstGeom prst="rect">
            <a:avLst/>
          </a:prstGeom>
          <a:solidFill>
            <a:srgbClr val="94A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46304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AC4"/>
                </a:solidFill>
                <a:latin typeface="Calibri"/>
              </a:rPr>
              <a:t>XML-RPC
Connector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2468880"/>
            <a:ext cx="18379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Ponte di
comunicazione
per n8n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2514600"/>
            <a:ext cx="256032" cy="320040"/>
          </a:xfrm>
          <a:prstGeom prst="rightArrow">
            <a:avLst/>
          </a:prstGeom>
          <a:solidFill>
            <a:srgbClr val="94A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1280160"/>
            <a:ext cx="2057400" cy="2834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1496" y="1280160"/>
            <a:ext cx="205740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146304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n8n
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468880"/>
            <a:ext cx="18379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Orchestrazione AI
Trigger · Audit
Workflow visuale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42048" y="2514600"/>
            <a:ext cx="256032" cy="32004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07224" y="1280160"/>
            <a:ext cx="2057400" cy="2834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07224" y="1280160"/>
            <a:ext cx="2057400" cy="109728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4" y="146304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A88"/>
                </a:solidFill>
                <a:latin typeface="Calibri"/>
              </a:rPr>
              <a:t>AI Models
(locale)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468880"/>
            <a:ext cx="18379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Analisi CVE
Risk Score
Suggerimenti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37776" y="2514600"/>
            <a:ext cx="256032" cy="320040"/>
          </a:xfrm>
          <a:prstGeom prst="rightArrow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2952" y="1280160"/>
            <a:ext cx="2057400" cy="283464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02952" y="1280160"/>
            <a:ext cx="205740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146304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alibri"/>
              </a:rPr>
              <a:t>Operatore
+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468880"/>
            <a:ext cx="18379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Approva azioni
Riceve report
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43400"/>
            <a:ext cx="11247120" cy="1874519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622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Scenario tipo: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01184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UYUNI rileva nuova errata critica  →  XML-RPC notifica n8n  →  workflow AI analizza CVE + sistemi affetti
→  modello locale calcola risk score  →  operatore riceve report strutturato con azione consigliata
→  approva o il workflow esegue in autonomia  →  log completo dell'intera catena decisionale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446520"/>
            <a:ext cx="11247120" cy="329184"/>
          </a:xfrm>
          <a:prstGeom prst="roundRect">
            <a:avLst/>
          </a:prstGeom>
          <a:solidFill>
            <a:srgbClr val="0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64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C6482"/>
                </a:solidFill>
                <a:latin typeface="Calibri"/>
              </a:rPr>
              <a:t>[  SUGGERIMENTO: sostituire con diagramma animato draw.io / Miro dell'architettura reale live 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L'Ecosistema Open Source — I Numeri Contano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103120" cy="5029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210312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AA"/>
                </a:solidFill>
                <a:latin typeface="Calibri"/>
              </a:rPr>
              <a:t>n8n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50.000+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stelle 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64992"/>
            <a:ext cx="1554480" cy="36576"/>
          </a:xfrm>
          <a:prstGeom prst="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AC4"/>
                </a:solidFill>
                <a:latin typeface="Calibri"/>
              </a:rPr>
              <a:t>400+ integrazioni
80.000+ community
6 anni · Fair-code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188720"/>
            <a:ext cx="2103120" cy="5029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188720"/>
            <a:ext cx="210312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898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6B35"/>
                </a:solidFill>
                <a:latin typeface="Calibri"/>
              </a:rPr>
              <a:t>SaltStack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9339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14.000+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stelle GitHub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364992"/>
            <a:ext cx="1554480" cy="36576"/>
          </a:xfrm>
          <a:prstGeom prst="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352044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AC4"/>
                </a:solidFill>
                <a:latin typeface="Calibri"/>
              </a:rPr>
              <a:t>13+ anni in prod
Event-driven automation
VMware backed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188720"/>
            <a:ext cx="2103120" cy="5029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188720"/>
            <a:ext cx="2103120" cy="10972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3898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A9EFF"/>
                </a:solidFill>
                <a:latin typeface="Calibri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199339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15.000+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stelle 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364992"/>
            <a:ext cx="1554480" cy="36576"/>
          </a:xfrm>
          <a:prstGeom prst="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352044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AC4"/>
                </a:solidFill>
                <a:latin typeface="Calibri"/>
              </a:rPr>
              <a:t>35+ anni · Standard enterprise
ACID · Estensibile
PGDG global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1188720"/>
            <a:ext cx="2103120" cy="5029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0" y="1188720"/>
            <a:ext cx="2103120" cy="109728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13898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A88"/>
                </a:solidFill>
                <a:latin typeface="Calibri"/>
              </a:rPr>
              <a:t>UYUNI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99339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800+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stelle GitHub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364992"/>
            <a:ext cx="1554480" cy="36576"/>
          </a:xfrm>
          <a:prstGeom prst="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352044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AC4"/>
                </a:solidFill>
                <a:latin typeface="Calibri"/>
              </a:rPr>
              <a:t>15+ anni
openSUSE Foundation
Multi-distro Linux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188720"/>
            <a:ext cx="2103120" cy="50292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188720"/>
            <a:ext cx="2103120" cy="109728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13898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54F"/>
                </a:solidFill>
                <a:latin typeface="Calibri"/>
              </a:rPr>
              <a:t>Flask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199339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67.000+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9077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stelle GitHub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3364992"/>
            <a:ext cx="1554480" cy="36576"/>
          </a:xfrm>
          <a:prstGeom prst="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352044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AC4"/>
                </a:solidFill>
                <a:latin typeface="Calibri"/>
              </a:rPr>
              <a:t>15+ anni
Pallets Project
Millioni di deployment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355080"/>
            <a:ext cx="11247120" cy="384048"/>
          </a:xfrm>
          <a:prstGeom prst="roundRect">
            <a:avLst/>
          </a:prstGeom>
          <a:solidFill>
            <a:srgbClr val="183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409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AC4"/>
                </a:solidFill>
                <a:latin typeface="Calibri"/>
              </a:rPr>
              <a:t>Stabilità provata  ·  Community globale  ·  Nessun vendor lock-in  ·  Costo zero di licenza  ·  Codice auditabile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11247120" cy="914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82296" cy="914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24712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①  INFRASTRUTTURA SOLIDA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UYUNI + SaltStack: base open source per gestione multi-OS, multi-tenant, CSP-independent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914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82296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②  AI CHE HA SENSO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Automazione, Intelligence, Novelty — ma solo con trasparenza e pieno controllo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27248"/>
            <a:ext cx="11247120" cy="914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82296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72968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③  n8n: TRASPARENZA NATIVA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01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Ogni decisione AI è visibile, auditabile, debuggabile — workflow ingegnerizzato per segmento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51376"/>
            <a:ext cx="11247120" cy="914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51376"/>
            <a:ext cx="82296" cy="914400"/>
          </a:xfrm>
          <a:prstGeom prst="rect">
            <a:avLst/>
          </a:prstGeom>
          <a:solidFill>
            <a:srgbClr val="00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A88"/>
                </a:solidFill>
                <a:latin typeface="Calibri"/>
              </a:rPr>
              <a:t>④  SICUREZZA PRIMA DI TUTTO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542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Modelli locali = zero esposizione dati clienti, GDPR, controllo totale sul modello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75504"/>
            <a:ext cx="11247120" cy="914400"/>
          </a:xfrm>
          <a:prstGeom prst="round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75504"/>
            <a:ext cx="82296" cy="9144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21224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54F"/>
                </a:solidFill>
                <a:latin typeface="Calibri"/>
              </a:rPr>
              <a:t>⑤  OPEN SOURCE: LA SCELTA GIUSTA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7842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AC4"/>
                </a:solidFill>
                <a:latin typeface="Calibri"/>
              </a:rPr>
              <a:t>50k+ stelle, community globale, stabilità enterprise, zero costi di licenza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AC4"/>
                </a:solidFill>
                <a:latin typeface="Calibri"/>
              </a:rPr>
              <a:t>Domande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